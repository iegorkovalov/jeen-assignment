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x="18288000" cy="10287000"/>
  <p:notesSz cx="6858000" cy="9144000"/>
  <p:embeddedFontLst>
    <p:embeddedFont>
      <p:font typeface="Radley" charset="1" panose="00000500000000000000"/>
      <p:regular r:id="rId16"/>
    </p:embeddedFont>
    <p:embeddedFont>
      <p:font typeface="Carlito" charset="1" panose="020F0502020204030204"/>
      <p:regular r:id="rId17"/>
    </p:embeddedFont>
    <p:embeddedFont>
      <p:font typeface="Radley Italics" charset="1" panose="00000500000000000000"/>
      <p:regular r:id="rId18"/>
    </p:embeddedFont>
    <p:embeddedFont>
      <p:font typeface="Carlito Bold" charset="1" panose="020F0502020204030204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Relationship Id="rId3" Target="../media/image3.jpeg" Type="http://schemas.openxmlformats.org/officeDocument/2006/relationships/image"/><Relationship Id="rId4" Target="../media/image4.jpe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jpe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jpe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jpeg" Type="http://schemas.openxmlformats.org/officeDocument/2006/relationships/image"/><Relationship Id="rId3" Target="../media/image8.jpeg" Type="http://schemas.openxmlformats.org/officeDocument/2006/relationships/image"/><Relationship Id="rId4" Target="../media/image9.jpeg" Type="http://schemas.openxmlformats.org/officeDocument/2006/relationships/image"/><Relationship Id="rId5" Target="../media/image10.jpe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Relationship Id="rId3" Target="../media/image13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4.png" Type="http://schemas.openxmlformats.org/officeDocument/2006/relationships/image"/><Relationship Id="rId3" Target="../media/image15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png" Type="http://schemas.openxmlformats.org/officeDocument/2006/relationships/image"/><Relationship Id="rId3" Target="../media/image17.png" Type="http://schemas.openxmlformats.org/officeDocument/2006/relationships/image"/><Relationship Id="rId4" Target="../media/image18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9.jpe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4981575" y="3352800"/>
            <a:ext cx="8324850" cy="6934200"/>
            <a:chOff x="0" y="0"/>
            <a:chExt cx="1289737" cy="107428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289737" cy="1074289"/>
            </a:xfrm>
            <a:custGeom>
              <a:avLst/>
              <a:gdLst/>
              <a:ahLst/>
              <a:cxnLst/>
              <a:rect r="r" b="b" t="t" l="l"/>
              <a:pathLst>
                <a:path h="1074289" w="1289737">
                  <a:moveTo>
                    <a:pt x="1289737" y="0"/>
                  </a:moveTo>
                  <a:lnTo>
                    <a:pt x="0" y="0"/>
                  </a:lnTo>
                  <a:lnTo>
                    <a:pt x="0" y="1074289"/>
                  </a:lnTo>
                  <a:lnTo>
                    <a:pt x="1289737" y="1074289"/>
                  </a:lnTo>
                  <a:close/>
                </a:path>
              </a:pathLst>
            </a:custGeom>
            <a:blipFill>
              <a:blip r:embed="rId2"/>
              <a:stretch>
                <a:fillRect l="-329" t="0" r="-329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666750" y="666750"/>
            <a:ext cx="16954500" cy="2172955"/>
            <a:chOff x="0" y="0"/>
            <a:chExt cx="22606000" cy="2897274"/>
          </a:xfrm>
        </p:grpSpPr>
        <p:sp>
          <p:nvSpPr>
            <p:cNvPr name="AutoShape 5" id="5"/>
            <p:cNvSpPr/>
            <p:nvPr/>
          </p:nvSpPr>
          <p:spPr>
            <a:xfrm>
              <a:off x="0" y="2884574"/>
              <a:ext cx="22606000" cy="0"/>
            </a:xfrm>
            <a:prstGeom prst="line">
              <a:avLst/>
            </a:prstGeom>
            <a:ln cap="flat" w="25400">
              <a:solidFill>
                <a:srgbClr val="00897B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TextBox 6" id="6"/>
            <p:cNvSpPr txBox="true"/>
            <p:nvPr/>
          </p:nvSpPr>
          <p:spPr>
            <a:xfrm rot="0">
              <a:off x="0" y="266700"/>
              <a:ext cx="22606000" cy="263057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14299"/>
                </a:lnSpc>
              </a:pPr>
              <a:r>
                <a:rPr lang="he-IL" sz="14299" spc="-285" u="none">
                  <a:solidFill>
                    <a:srgbClr val="00897B"/>
                  </a:solidFill>
                  <a:latin typeface="Radley"/>
                  <a:ea typeface="Radley"/>
                  <a:cs typeface="Radley"/>
                  <a:sym typeface="Radley"/>
                  <a:rtl val="true"/>
                </a:rPr>
                <a:t>יישומי בינה מלאכותית</a:t>
              </a: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13611225" y="9276080"/>
            <a:ext cx="4010025" cy="3441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rtl="true" marL="0" indent="0" lvl="0">
              <a:lnSpc>
                <a:spcPts val="2299"/>
              </a:lnSpc>
            </a:pPr>
            <a:r>
              <a:rPr lang="he-IL" sz="2299">
                <a:solidFill>
                  <a:srgbClr val="00897B"/>
                </a:solidFill>
                <a:latin typeface="Carlito"/>
                <a:ea typeface="Carlito"/>
                <a:cs typeface="Carlito"/>
                <a:sym typeface="Carlito"/>
                <a:rtl val="true"/>
              </a:rPr>
              <a:t>א</a:t>
            </a:r>
            <a:r>
              <a:rPr lang="he-IL" sz="2299">
                <a:solidFill>
                  <a:srgbClr val="00897B"/>
                </a:solidFill>
                <a:latin typeface="Carlito"/>
                <a:ea typeface="Carlito"/>
                <a:cs typeface="Carlito"/>
                <a:sym typeface="Carlito"/>
                <a:rtl val="true"/>
              </a:rPr>
              <a:t>יגור קובלוב, ינואר </a:t>
            </a:r>
            <a:r>
              <a:rPr lang="en-US" sz="2299">
                <a:solidFill>
                  <a:srgbClr val="00897B"/>
                </a:solidFill>
                <a:latin typeface="Carlito"/>
                <a:ea typeface="Carlito"/>
                <a:cs typeface="Carlito"/>
                <a:sym typeface="Carlito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7103948" y="5613672"/>
            <a:ext cx="4414264" cy="3942430"/>
            <a:chOff x="0" y="0"/>
            <a:chExt cx="1391532" cy="124279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391532" cy="1242794"/>
            </a:xfrm>
            <a:custGeom>
              <a:avLst/>
              <a:gdLst/>
              <a:ahLst/>
              <a:cxnLst/>
              <a:rect r="r" b="b" t="t" l="l"/>
              <a:pathLst>
                <a:path h="1242794" w="1391532">
                  <a:moveTo>
                    <a:pt x="1391532" y="0"/>
                  </a:moveTo>
                  <a:lnTo>
                    <a:pt x="0" y="0"/>
                  </a:lnTo>
                  <a:lnTo>
                    <a:pt x="0" y="1242794"/>
                  </a:lnTo>
                  <a:lnTo>
                    <a:pt x="1391532" y="1242794"/>
                  </a:lnTo>
                  <a:close/>
                </a:path>
              </a:pathLst>
            </a:custGeom>
            <a:blipFill>
              <a:blip r:embed="rId2"/>
              <a:stretch>
                <a:fillRect l="-104" t="0" r="-104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688315" y="5613672"/>
            <a:ext cx="4414264" cy="3942430"/>
            <a:chOff x="0" y="0"/>
            <a:chExt cx="1391532" cy="124279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391532" cy="1242794"/>
            </a:xfrm>
            <a:custGeom>
              <a:avLst/>
              <a:gdLst/>
              <a:ahLst/>
              <a:cxnLst/>
              <a:rect r="r" b="b" t="t" l="l"/>
              <a:pathLst>
                <a:path h="1242794" w="1391532">
                  <a:moveTo>
                    <a:pt x="1391532" y="0"/>
                  </a:moveTo>
                  <a:lnTo>
                    <a:pt x="0" y="0"/>
                  </a:lnTo>
                  <a:lnTo>
                    <a:pt x="0" y="1242794"/>
                  </a:lnTo>
                  <a:lnTo>
                    <a:pt x="1391532" y="1242794"/>
                  </a:lnTo>
                  <a:close/>
                </a:path>
              </a:pathLst>
            </a:custGeom>
            <a:blipFill>
              <a:blip r:embed="rId3"/>
              <a:stretch>
                <a:fillRect l="-104" t="0" r="-104" b="0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1518109" y="5613672"/>
            <a:ext cx="4414264" cy="3942430"/>
            <a:chOff x="0" y="0"/>
            <a:chExt cx="1391532" cy="124279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391532" cy="1242794"/>
            </a:xfrm>
            <a:custGeom>
              <a:avLst/>
              <a:gdLst/>
              <a:ahLst/>
              <a:cxnLst/>
              <a:rect r="r" b="b" t="t" l="l"/>
              <a:pathLst>
                <a:path h="1242794" w="1391532">
                  <a:moveTo>
                    <a:pt x="1391532" y="0"/>
                  </a:moveTo>
                  <a:lnTo>
                    <a:pt x="0" y="0"/>
                  </a:lnTo>
                  <a:lnTo>
                    <a:pt x="0" y="1242794"/>
                  </a:lnTo>
                  <a:lnTo>
                    <a:pt x="1391532" y="1242794"/>
                  </a:lnTo>
                  <a:close/>
                </a:path>
              </a:pathLst>
            </a:custGeom>
            <a:blipFill>
              <a:blip r:embed="rId4"/>
              <a:stretch>
                <a:fillRect l="-104" t="0" r="-104" b="0"/>
              </a:stretch>
            </a:blipFill>
          </p:spPr>
        </p:sp>
      </p:grpSp>
      <p:sp>
        <p:nvSpPr>
          <p:cNvPr name="TextBox 8" id="8"/>
          <p:cNvSpPr txBox="true"/>
          <p:nvPr/>
        </p:nvSpPr>
        <p:spPr>
          <a:xfrm rot="0">
            <a:off x="4371975" y="723900"/>
            <a:ext cx="13249275" cy="10045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rtl="true" marL="0" indent="0" lvl="0">
              <a:lnSpc>
                <a:spcPts val="7840"/>
              </a:lnSpc>
              <a:spcBef>
                <a:spcPct val="0"/>
              </a:spcBef>
            </a:pPr>
            <a:r>
              <a:rPr lang="he-IL" sz="7000">
                <a:solidFill>
                  <a:srgbClr val="00897B"/>
                </a:solidFill>
                <a:latin typeface="Radley"/>
                <a:ea typeface="Radley"/>
                <a:cs typeface="Radley"/>
                <a:sym typeface="Radley"/>
                <a:rtl val="true"/>
              </a:rPr>
              <a:t>יישומים חכמים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2120092" y="2257562"/>
            <a:ext cx="4982486" cy="2759710"/>
            <a:chOff x="0" y="0"/>
            <a:chExt cx="6643315" cy="3679614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-47625"/>
              <a:ext cx="6643315" cy="64452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r" rtl="true" marL="0" indent="0" lvl="0">
                <a:lnSpc>
                  <a:spcPts val="4199"/>
                </a:lnSpc>
                <a:spcBef>
                  <a:spcPct val="0"/>
                </a:spcBef>
              </a:pPr>
              <a:r>
                <a:rPr lang="he-IL" sz="2999">
                  <a:solidFill>
                    <a:srgbClr val="00897B"/>
                  </a:solidFill>
                  <a:latin typeface="Radley"/>
                  <a:ea typeface="Radley"/>
                  <a:cs typeface="Radley"/>
                  <a:sym typeface="Radley"/>
                  <a:rtl val="true"/>
                </a:rPr>
                <a:t>ניווט הפניות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842222"/>
              <a:ext cx="6643315" cy="283739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r" rtl="true" marL="431799" indent="-215899" lvl="1">
                <a:lnSpc>
                  <a:spcPts val="2799"/>
                </a:lnSpc>
                <a:buFont typeface="Arial"/>
                <a:buChar char="•"/>
              </a:pPr>
              <a:r>
                <a:rPr lang="en-US" sz="1999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</a:rPr>
                <a:t>AI</a:t>
              </a:r>
              <a:r>
                <a:rPr lang="he-IL" sz="1999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 שמנתח תסמינים ומפנה ישירות למומחה המתאים - בלי לעבור דרך רופא המשפחה.</a:t>
              </a:r>
            </a:p>
            <a:p>
              <a:pPr algn="r" rtl="true" marL="431799" indent="-215899" lvl="1">
                <a:lnSpc>
                  <a:spcPts val="2799"/>
                </a:lnSpc>
                <a:buFont typeface="Arial"/>
                <a:buChar char="•"/>
              </a:pPr>
              <a:r>
                <a:rPr lang="he-IL" sz="1999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בודק זמינות תורים בזמן אמת וקובע תור אוטומטית.</a:t>
              </a:r>
            </a:p>
            <a:p>
              <a:pPr algn="r" rtl="true" marL="431799" indent="-215899" lvl="1">
                <a:lnSpc>
                  <a:spcPts val="2799"/>
                </a:lnSpc>
                <a:buFont typeface="Arial"/>
                <a:buChar char="•"/>
              </a:pPr>
              <a:r>
                <a:rPr lang="he-IL" sz="1999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חוסך זמן למטופלים ומפחית עומס על רופאי המשפחה.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6571239" y="2257562"/>
            <a:ext cx="4946973" cy="2407285"/>
            <a:chOff x="0" y="0"/>
            <a:chExt cx="6595963" cy="3209714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842222"/>
              <a:ext cx="6595963" cy="236749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r" rtl="true" marL="431799" indent="-215899" lvl="1">
                <a:lnSpc>
                  <a:spcPts val="2799"/>
                </a:lnSpc>
                <a:buFont typeface="Arial"/>
                <a:buChar char="•"/>
              </a:pPr>
              <a:r>
                <a:rPr lang="en-US" sz="1999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</a:rPr>
                <a:t>AI</a:t>
              </a:r>
              <a:r>
                <a:rPr lang="he-IL" sz="1999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 שמתרגם תוצאות בדיקות מעבדה משפה רפואית מקצועית לעברית פשוטה וברורה.</a:t>
              </a:r>
            </a:p>
            <a:p>
              <a:pPr algn="r" rtl="true" marL="431799" indent="-215899" lvl="1">
                <a:lnSpc>
                  <a:spcPts val="2799"/>
                </a:lnSpc>
                <a:buFont typeface="Arial"/>
                <a:buChar char="•"/>
              </a:pPr>
              <a:r>
                <a:rPr lang="he-IL" sz="1999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מסביר מה תקין, מה חריג, ומה דורש תשומת לב מיידית.</a:t>
              </a:r>
            </a:p>
            <a:p>
              <a:pPr algn="r" rtl="true" marL="431799" indent="-215899" lvl="1">
                <a:lnSpc>
                  <a:spcPts val="2799"/>
                </a:lnSpc>
                <a:buFont typeface="Arial"/>
                <a:buChar char="•"/>
              </a:pPr>
              <a:r>
                <a:rPr lang="he-IL" sz="1999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מפחית חרדה ומונע שיחות מיותרות לרופא.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-47625"/>
              <a:ext cx="6595963" cy="64452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r" rtl="true" marL="0" indent="0" lvl="0">
                <a:lnSpc>
                  <a:spcPts val="4199"/>
                </a:lnSpc>
                <a:spcBef>
                  <a:spcPct val="0"/>
                </a:spcBef>
              </a:pPr>
              <a:r>
                <a:rPr lang="he-IL" sz="2999">
                  <a:solidFill>
                    <a:srgbClr val="00897B"/>
                  </a:solidFill>
                  <a:latin typeface="Radley"/>
                  <a:ea typeface="Radley"/>
                  <a:cs typeface="Radley"/>
                  <a:sym typeface="Radley"/>
                  <a:rtl val="true"/>
                </a:rPr>
                <a:t>פענוח תוצאות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772317" y="2257562"/>
            <a:ext cx="5160056" cy="2759710"/>
            <a:chOff x="0" y="0"/>
            <a:chExt cx="6880075" cy="3679614"/>
          </a:xfrm>
        </p:grpSpPr>
        <p:sp>
          <p:nvSpPr>
            <p:cNvPr name="TextBox 16" id="16"/>
            <p:cNvSpPr txBox="true"/>
            <p:nvPr/>
          </p:nvSpPr>
          <p:spPr>
            <a:xfrm rot="0">
              <a:off x="0" y="842222"/>
              <a:ext cx="6880075" cy="283739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r" rtl="true" marL="431799" indent="-215899" lvl="1">
                <a:lnSpc>
                  <a:spcPts val="2799"/>
                </a:lnSpc>
                <a:buFont typeface="Arial"/>
                <a:buChar char="•"/>
              </a:pPr>
              <a:r>
                <a:rPr lang="he-IL" sz="1999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מערכת </a:t>
              </a:r>
              <a:r>
                <a:rPr lang="en-US" sz="1999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</a:rPr>
                <a:t>AI</a:t>
              </a:r>
              <a:r>
                <a:rPr lang="he-IL" sz="1999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 מבוססת </a:t>
              </a:r>
              <a:r>
                <a:rPr lang="en-US" sz="1999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</a:rPr>
                <a:t>RAG</a:t>
              </a:r>
              <a:r>
                <a:rPr lang="he-IL" sz="1999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 שמחברת מטופלים עם חוויות רפואיות דומות באופן אנונימי.</a:t>
              </a:r>
            </a:p>
            <a:p>
              <a:pPr algn="r" rtl="true" marL="431799" indent="-215899" lvl="1">
                <a:lnSpc>
                  <a:spcPts val="2799"/>
                </a:lnSpc>
                <a:buFont typeface="Arial"/>
                <a:buChar char="•"/>
              </a:pPr>
              <a:r>
                <a:rPr lang="he-IL" sz="1999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המערכת משתמשת ב-</a:t>
              </a:r>
              <a:r>
                <a:rPr lang="en-US" sz="1999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</a:rPr>
                <a:t>Embeddings</a:t>
              </a:r>
              <a:r>
                <a:rPr lang="he-IL" sz="1999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 כדי למצוא התאמות על בסיס משמעות - לא מילים זהות.</a:t>
              </a:r>
            </a:p>
            <a:p>
              <a:pPr algn="r" rtl="true" marL="431799" indent="-215899" lvl="1">
                <a:lnSpc>
                  <a:spcPts val="2799"/>
                </a:lnSpc>
                <a:buFont typeface="Arial"/>
                <a:buChar char="•"/>
              </a:pPr>
              <a:r>
                <a:rPr lang="he-IL" sz="1999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מאפשרת תמיכה רגשית וטיפים מעשיים ממי שכבר עבר את אותו המסע הרפואי.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0" y="-47625"/>
              <a:ext cx="6880075" cy="64452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r" rtl="true" marL="0" indent="0" lvl="0">
                <a:lnSpc>
                  <a:spcPts val="4199"/>
                </a:lnSpc>
                <a:spcBef>
                  <a:spcPct val="0"/>
                </a:spcBef>
              </a:pPr>
              <a:r>
                <a:rPr lang="he-IL" sz="2999">
                  <a:solidFill>
                    <a:srgbClr val="00897B"/>
                  </a:solidFill>
                  <a:latin typeface="Radley"/>
                  <a:ea typeface="Radley"/>
                  <a:cs typeface="Radley"/>
                  <a:sym typeface="Radley"/>
                  <a:rtl val="true"/>
                </a:rPr>
                <a:t>התאמת מטופלים (</a:t>
              </a:r>
              <a:r>
                <a:rPr lang="en-US" sz="2999">
                  <a:solidFill>
                    <a:srgbClr val="00897B"/>
                  </a:solidFill>
                  <a:latin typeface="Radley"/>
                  <a:ea typeface="Radley"/>
                  <a:cs typeface="Radley"/>
                  <a:sym typeface="Radley"/>
                </a:rPr>
                <a:t>Vector DB</a:t>
              </a:r>
              <a:r>
                <a:rPr lang="ar-EG" sz="2999">
                  <a:solidFill>
                    <a:srgbClr val="00897B"/>
                  </a:solidFill>
                  <a:latin typeface="Radley"/>
                  <a:ea typeface="Radley"/>
                  <a:cs typeface="Radley"/>
                  <a:sym typeface="Radley"/>
                  <a:rtl val="true"/>
                </a:rPr>
                <a:t>)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0734675" cy="6934200"/>
            <a:chOff x="0" y="0"/>
            <a:chExt cx="3111331" cy="200980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111331" cy="2009804"/>
            </a:xfrm>
            <a:custGeom>
              <a:avLst/>
              <a:gdLst/>
              <a:ahLst/>
              <a:cxnLst/>
              <a:rect r="r" b="b" t="t" l="l"/>
              <a:pathLst>
                <a:path h="2009804" w="3111331">
                  <a:moveTo>
                    <a:pt x="3111331" y="0"/>
                  </a:moveTo>
                  <a:lnTo>
                    <a:pt x="0" y="0"/>
                  </a:lnTo>
                  <a:lnTo>
                    <a:pt x="0" y="2009804"/>
                  </a:lnTo>
                  <a:lnTo>
                    <a:pt x="3111331" y="2009804"/>
                  </a:lnTo>
                  <a:close/>
                </a:path>
              </a:pathLst>
            </a:custGeom>
            <a:blipFill>
              <a:blip r:embed="rId2"/>
              <a:stretch>
                <a:fillRect l="-74" t="0" r="-74" b="0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13001625" y="723900"/>
            <a:ext cx="4619625" cy="19951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rtl="true" marL="0" indent="0" lvl="0">
              <a:lnSpc>
                <a:spcPts val="7840"/>
              </a:lnSpc>
              <a:spcBef>
                <a:spcPct val="0"/>
              </a:spcBef>
            </a:pPr>
            <a:r>
              <a:rPr lang="he-IL" sz="7000">
                <a:solidFill>
                  <a:srgbClr val="00897B"/>
                </a:solidFill>
                <a:latin typeface="Radley"/>
                <a:ea typeface="Radley"/>
                <a:cs typeface="Radley"/>
                <a:sym typeface="Radley"/>
                <a:rtl val="true"/>
              </a:rPr>
              <a:t>בוט מיון חירום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4981575" y="7829550"/>
            <a:ext cx="5753100" cy="1209675"/>
            <a:chOff x="0" y="0"/>
            <a:chExt cx="7670800" cy="1612900"/>
          </a:xfrm>
        </p:grpSpPr>
        <p:sp>
          <p:nvSpPr>
            <p:cNvPr name="TextBox 6" id="6"/>
            <p:cNvSpPr txBox="true"/>
            <p:nvPr/>
          </p:nvSpPr>
          <p:spPr>
            <a:xfrm rot="0">
              <a:off x="0" y="-57150"/>
              <a:ext cx="7670800" cy="62272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r" rtl="true" marL="0" indent="0" lvl="0">
                <a:lnSpc>
                  <a:spcPts val="3919"/>
                </a:lnSpc>
                <a:spcBef>
                  <a:spcPct val="0"/>
                </a:spcBef>
              </a:pPr>
              <a:r>
                <a:rPr lang="he-IL" sz="2799">
                  <a:solidFill>
                    <a:srgbClr val="00897B"/>
                  </a:solidFill>
                  <a:latin typeface="Radley"/>
                  <a:ea typeface="Radley"/>
                  <a:cs typeface="Radley"/>
                  <a:sym typeface="Radley"/>
                  <a:rtl val="true"/>
                </a:rPr>
                <a:t>מבוא</a:t>
              </a:r>
            </a:p>
          </p:txBody>
        </p:sp>
        <p:sp>
          <p:nvSpPr>
            <p:cNvPr name="TextBox 7" id="7"/>
            <p:cNvSpPr txBox="true"/>
            <p:nvPr/>
          </p:nvSpPr>
          <p:spPr>
            <a:xfrm rot="0">
              <a:off x="0" y="759460"/>
              <a:ext cx="7670800" cy="85344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r" rtl="true" marL="0" indent="0" lvl="0">
                <a:lnSpc>
                  <a:spcPts val="2520"/>
                </a:lnSpc>
              </a:pPr>
              <a:r>
                <a:rPr lang="he-IL" sz="1800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עוזר </a:t>
              </a:r>
              <a:r>
                <a:rPr lang="en-US" sz="1800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</a:rPr>
                <a:t>AI</a:t>
              </a:r>
              <a:r>
                <a:rPr lang="he-IL" sz="1800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 שמנחה במצבי חירום, זמין</a:t>
              </a:r>
              <a:r>
                <a:rPr lang="ar-EG" sz="1800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 </a:t>
              </a:r>
              <a:r>
                <a:rPr lang="en-US" sz="1800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</a:rPr>
                <a:t>24/7</a:t>
              </a:r>
              <a:r>
                <a:rPr lang="he-IL" sz="1800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 למשתמשים</a:t>
              </a:r>
            </a:p>
            <a:p>
              <a:pPr algn="r" rtl="true" marL="0" indent="0" lvl="0">
                <a:lnSpc>
                  <a:spcPts val="2520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5449520" y="9184102"/>
            <a:ext cx="2171730" cy="2205796"/>
            <a:chOff x="0" y="0"/>
            <a:chExt cx="812800" cy="8255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1270" y="0"/>
              <a:ext cx="810260" cy="822960"/>
            </a:xfrm>
            <a:custGeom>
              <a:avLst/>
              <a:gdLst/>
              <a:ahLst/>
              <a:cxnLst/>
              <a:rect r="r" b="b" t="t" l="l"/>
              <a:pathLst>
                <a:path h="822960" w="810260">
                  <a:moveTo>
                    <a:pt x="405130" y="0"/>
                  </a:moveTo>
                  <a:lnTo>
                    <a:pt x="359410" y="151130"/>
                  </a:lnTo>
                  <a:lnTo>
                    <a:pt x="264160" y="25400"/>
                  </a:lnTo>
                  <a:lnTo>
                    <a:pt x="273050" y="181610"/>
                  </a:lnTo>
                  <a:lnTo>
                    <a:pt x="140970" y="96520"/>
                  </a:lnTo>
                  <a:lnTo>
                    <a:pt x="201930" y="241300"/>
                  </a:lnTo>
                  <a:lnTo>
                    <a:pt x="49530" y="205740"/>
                  </a:lnTo>
                  <a:lnTo>
                    <a:pt x="156210" y="321310"/>
                  </a:lnTo>
                  <a:lnTo>
                    <a:pt x="0" y="340360"/>
                  </a:lnTo>
                  <a:lnTo>
                    <a:pt x="140970" y="411480"/>
                  </a:lnTo>
                  <a:lnTo>
                    <a:pt x="0" y="482600"/>
                  </a:lnTo>
                  <a:lnTo>
                    <a:pt x="156210" y="501650"/>
                  </a:lnTo>
                  <a:lnTo>
                    <a:pt x="49530" y="617220"/>
                  </a:lnTo>
                  <a:lnTo>
                    <a:pt x="201930" y="581660"/>
                  </a:lnTo>
                  <a:lnTo>
                    <a:pt x="140970" y="726440"/>
                  </a:lnTo>
                  <a:lnTo>
                    <a:pt x="273050" y="640080"/>
                  </a:lnTo>
                  <a:lnTo>
                    <a:pt x="264160" y="797560"/>
                  </a:lnTo>
                  <a:lnTo>
                    <a:pt x="359410" y="671830"/>
                  </a:lnTo>
                  <a:lnTo>
                    <a:pt x="405130" y="822960"/>
                  </a:lnTo>
                  <a:lnTo>
                    <a:pt x="450850" y="671830"/>
                  </a:lnTo>
                  <a:lnTo>
                    <a:pt x="546100" y="797560"/>
                  </a:lnTo>
                  <a:lnTo>
                    <a:pt x="537210" y="640080"/>
                  </a:lnTo>
                  <a:lnTo>
                    <a:pt x="669290" y="726440"/>
                  </a:lnTo>
                  <a:lnTo>
                    <a:pt x="608330" y="581660"/>
                  </a:lnTo>
                  <a:lnTo>
                    <a:pt x="760730" y="617220"/>
                  </a:lnTo>
                  <a:lnTo>
                    <a:pt x="654050" y="501650"/>
                  </a:lnTo>
                  <a:lnTo>
                    <a:pt x="810260" y="482600"/>
                  </a:lnTo>
                  <a:lnTo>
                    <a:pt x="669290" y="411480"/>
                  </a:lnTo>
                  <a:lnTo>
                    <a:pt x="810260" y="340360"/>
                  </a:lnTo>
                  <a:lnTo>
                    <a:pt x="654050" y="321310"/>
                  </a:lnTo>
                  <a:lnTo>
                    <a:pt x="760730" y="205740"/>
                  </a:lnTo>
                  <a:lnTo>
                    <a:pt x="608330" y="241300"/>
                  </a:lnTo>
                  <a:lnTo>
                    <a:pt x="669290" y="96520"/>
                  </a:lnTo>
                  <a:lnTo>
                    <a:pt x="537210" y="181610"/>
                  </a:lnTo>
                  <a:lnTo>
                    <a:pt x="546100" y="25400"/>
                  </a:lnTo>
                  <a:lnTo>
                    <a:pt x="450850" y="151130"/>
                  </a:lnTo>
                  <a:close/>
                </a:path>
              </a:pathLst>
            </a:custGeom>
            <a:solidFill>
              <a:srgbClr val="00897B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141746" y="112576"/>
              <a:ext cx="529308" cy="55936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rtl="true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7858125" cy="10287000"/>
            <a:chOff x="0" y="0"/>
            <a:chExt cx="1217429" cy="159372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217429" cy="1593725"/>
            </a:xfrm>
            <a:custGeom>
              <a:avLst/>
              <a:gdLst/>
              <a:ahLst/>
              <a:cxnLst/>
              <a:rect r="r" b="b" t="t" l="l"/>
              <a:pathLst>
                <a:path h="1593725" w="1217429">
                  <a:moveTo>
                    <a:pt x="1217429" y="0"/>
                  </a:moveTo>
                  <a:lnTo>
                    <a:pt x="0" y="0"/>
                  </a:lnTo>
                  <a:lnTo>
                    <a:pt x="0" y="1593725"/>
                  </a:lnTo>
                  <a:lnTo>
                    <a:pt x="1217429" y="1593725"/>
                  </a:lnTo>
                  <a:close/>
                </a:path>
              </a:pathLst>
            </a:custGeom>
            <a:blipFill>
              <a:blip r:embed="rId2"/>
              <a:stretch>
                <a:fillRect l="0" t="-255" r="0" b="-255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10390385" y="666755"/>
            <a:ext cx="7230865" cy="5553075"/>
            <a:chOff x="0" y="0"/>
            <a:chExt cx="9641153" cy="7404100"/>
          </a:xfrm>
        </p:grpSpPr>
        <p:sp>
          <p:nvSpPr>
            <p:cNvPr name="TextBox 5" id="5"/>
            <p:cNvSpPr txBox="true"/>
            <p:nvPr/>
          </p:nvSpPr>
          <p:spPr>
            <a:xfrm rot="0">
              <a:off x="0" y="57150"/>
              <a:ext cx="9614826" cy="267927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r" rtl="true" marL="0" indent="0" lvl="0">
                <a:lnSpc>
                  <a:spcPts val="7840"/>
                </a:lnSpc>
                <a:spcBef>
                  <a:spcPct val="0"/>
                </a:spcBef>
              </a:pPr>
              <a:r>
                <a:rPr lang="he-IL" sz="7000" i="true">
                  <a:solidFill>
                    <a:srgbClr val="00897B"/>
                  </a:solidFill>
                  <a:latin typeface="Radley Italics"/>
                  <a:ea typeface="Radley Italics"/>
                  <a:cs typeface="Radley Italics"/>
                  <a:sym typeface="Radley Italics"/>
                  <a:rtl val="true"/>
                </a:rPr>
                <a:t>כיצד הבוט משרת את מכבי</a:t>
              </a:r>
            </a:p>
          </p:txBody>
        </p:sp>
        <p:sp>
          <p:nvSpPr>
            <p:cNvPr name="TextBox 6" id="6"/>
            <p:cNvSpPr txBox="true"/>
            <p:nvPr/>
          </p:nvSpPr>
          <p:spPr>
            <a:xfrm rot="0">
              <a:off x="0" y="3708400"/>
              <a:ext cx="9614826" cy="13970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r" rtl="true" marL="0" indent="0" lvl="0">
                <a:lnSpc>
                  <a:spcPts val="4199"/>
                </a:lnSpc>
                <a:spcBef>
                  <a:spcPct val="0"/>
                </a:spcBef>
              </a:pPr>
              <a:r>
                <a:rPr lang="he-IL" sz="3499" u="none">
                  <a:solidFill>
                    <a:srgbClr val="00897B"/>
                  </a:solidFill>
                  <a:latin typeface="Radley"/>
                  <a:ea typeface="Radley"/>
                  <a:cs typeface="Radley"/>
                  <a:sym typeface="Radley"/>
                  <a:rtl val="true"/>
                </a:rPr>
                <a:t>יתרונות השימוש בבוט מיון חירום עבור מערכת הבריאות שלנו</a:t>
              </a:r>
            </a:p>
          </p:txBody>
        </p:sp>
        <p:sp>
          <p:nvSpPr>
            <p:cNvPr name="AutoShape 7" id="7"/>
            <p:cNvSpPr/>
            <p:nvPr/>
          </p:nvSpPr>
          <p:spPr>
            <a:xfrm>
              <a:off x="26326" y="3222414"/>
              <a:ext cx="9614826" cy="0"/>
            </a:xfrm>
            <a:prstGeom prst="line">
              <a:avLst/>
            </a:prstGeom>
            <a:ln cap="flat" w="25400">
              <a:solidFill>
                <a:srgbClr val="00897B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TextBox 8" id="8"/>
            <p:cNvSpPr txBox="true"/>
            <p:nvPr/>
          </p:nvSpPr>
          <p:spPr>
            <a:xfrm rot="0">
              <a:off x="26326" y="5740400"/>
              <a:ext cx="9588500" cy="16637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r" rtl="true" marL="0" indent="0" lvl="0">
                <a:lnSpc>
                  <a:spcPts val="2400"/>
                </a:lnSpc>
              </a:pPr>
              <a:r>
                <a:rPr lang="he-IL" sz="2000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הבוט המיון חירום של מכבי מציע </a:t>
              </a:r>
              <a:r>
                <a:rPr lang="he-IL" b="true" sz="2000">
                  <a:solidFill>
                    <a:srgbClr val="333333"/>
                  </a:solidFill>
                  <a:latin typeface="Carlito Bold"/>
                  <a:ea typeface="Carlito Bold"/>
                  <a:cs typeface="Carlito Bold"/>
                  <a:sym typeface="Carlito Bold"/>
                  <a:rtl val="true"/>
                </a:rPr>
                <a:t>זמינות </a:t>
              </a:r>
              <a:r>
                <a:rPr lang="en-US" b="true" sz="2000">
                  <a:solidFill>
                    <a:srgbClr val="333333"/>
                  </a:solidFill>
                  <a:latin typeface="Carlito Bold"/>
                  <a:ea typeface="Carlito Bold"/>
                  <a:cs typeface="Carlito Bold"/>
                  <a:sym typeface="Carlito Bold"/>
                </a:rPr>
                <a:t>24/7</a:t>
              </a:r>
              <a:r>
                <a:rPr lang="he-IL" sz="2000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 ומפחית את העומס על מרכזי השירות. הוא מספק תשובות איכותיות ועקביות, ומפנה מקרים מורכבים לסוכן אנושי במידת הצורך. בכך, הוא עשוי לחסוך חיים ולהבטיח טיפול מהיר ויעיל למטופלים.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5449520" y="9184102"/>
            <a:ext cx="2171730" cy="2205796"/>
            <a:chOff x="0" y="0"/>
            <a:chExt cx="812800" cy="8255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1270" y="0"/>
              <a:ext cx="810260" cy="822960"/>
            </a:xfrm>
            <a:custGeom>
              <a:avLst/>
              <a:gdLst/>
              <a:ahLst/>
              <a:cxnLst/>
              <a:rect r="r" b="b" t="t" l="l"/>
              <a:pathLst>
                <a:path h="822960" w="810260">
                  <a:moveTo>
                    <a:pt x="405130" y="0"/>
                  </a:moveTo>
                  <a:lnTo>
                    <a:pt x="359410" y="151130"/>
                  </a:lnTo>
                  <a:lnTo>
                    <a:pt x="264160" y="25400"/>
                  </a:lnTo>
                  <a:lnTo>
                    <a:pt x="273050" y="181610"/>
                  </a:lnTo>
                  <a:lnTo>
                    <a:pt x="140970" y="96520"/>
                  </a:lnTo>
                  <a:lnTo>
                    <a:pt x="201930" y="241300"/>
                  </a:lnTo>
                  <a:lnTo>
                    <a:pt x="49530" y="205740"/>
                  </a:lnTo>
                  <a:lnTo>
                    <a:pt x="156210" y="321310"/>
                  </a:lnTo>
                  <a:lnTo>
                    <a:pt x="0" y="340360"/>
                  </a:lnTo>
                  <a:lnTo>
                    <a:pt x="140970" y="411480"/>
                  </a:lnTo>
                  <a:lnTo>
                    <a:pt x="0" y="482600"/>
                  </a:lnTo>
                  <a:lnTo>
                    <a:pt x="156210" y="501650"/>
                  </a:lnTo>
                  <a:lnTo>
                    <a:pt x="49530" y="617220"/>
                  </a:lnTo>
                  <a:lnTo>
                    <a:pt x="201930" y="581660"/>
                  </a:lnTo>
                  <a:lnTo>
                    <a:pt x="140970" y="726440"/>
                  </a:lnTo>
                  <a:lnTo>
                    <a:pt x="273050" y="640080"/>
                  </a:lnTo>
                  <a:lnTo>
                    <a:pt x="264160" y="797560"/>
                  </a:lnTo>
                  <a:lnTo>
                    <a:pt x="359410" y="671830"/>
                  </a:lnTo>
                  <a:lnTo>
                    <a:pt x="405130" y="822960"/>
                  </a:lnTo>
                  <a:lnTo>
                    <a:pt x="450850" y="671830"/>
                  </a:lnTo>
                  <a:lnTo>
                    <a:pt x="546100" y="797560"/>
                  </a:lnTo>
                  <a:lnTo>
                    <a:pt x="537210" y="640080"/>
                  </a:lnTo>
                  <a:lnTo>
                    <a:pt x="669290" y="726440"/>
                  </a:lnTo>
                  <a:lnTo>
                    <a:pt x="608330" y="581660"/>
                  </a:lnTo>
                  <a:lnTo>
                    <a:pt x="760730" y="617220"/>
                  </a:lnTo>
                  <a:lnTo>
                    <a:pt x="654050" y="501650"/>
                  </a:lnTo>
                  <a:lnTo>
                    <a:pt x="810260" y="482600"/>
                  </a:lnTo>
                  <a:lnTo>
                    <a:pt x="669290" y="411480"/>
                  </a:lnTo>
                  <a:lnTo>
                    <a:pt x="810260" y="340360"/>
                  </a:lnTo>
                  <a:lnTo>
                    <a:pt x="654050" y="321310"/>
                  </a:lnTo>
                  <a:lnTo>
                    <a:pt x="760730" y="205740"/>
                  </a:lnTo>
                  <a:lnTo>
                    <a:pt x="608330" y="241300"/>
                  </a:lnTo>
                  <a:lnTo>
                    <a:pt x="669290" y="96520"/>
                  </a:lnTo>
                  <a:lnTo>
                    <a:pt x="537210" y="181610"/>
                  </a:lnTo>
                  <a:lnTo>
                    <a:pt x="546100" y="25400"/>
                  </a:lnTo>
                  <a:lnTo>
                    <a:pt x="450850" y="151130"/>
                  </a:lnTo>
                  <a:close/>
                </a:path>
              </a:pathLst>
            </a:custGeom>
            <a:solidFill>
              <a:srgbClr val="00897B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141746" y="112576"/>
              <a:ext cx="529308" cy="55936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rtl="true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666750" y="545464"/>
            <a:ext cx="16954500" cy="10045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7840"/>
              </a:lnSpc>
              <a:spcBef>
                <a:spcPct val="0"/>
              </a:spcBef>
            </a:pPr>
            <a:r>
              <a:rPr lang="he-IL" sz="7000">
                <a:solidFill>
                  <a:srgbClr val="00897B"/>
                </a:solidFill>
                <a:latin typeface="Radley"/>
                <a:ea typeface="Radley"/>
                <a:cs typeface="Radley"/>
                <a:sym typeface="Radley"/>
                <a:rtl val="true"/>
              </a:rPr>
              <a:t>השוואת מודלים של </a:t>
            </a:r>
            <a:r>
              <a:rPr lang="en-US" sz="7000">
                <a:solidFill>
                  <a:srgbClr val="00897B"/>
                </a:solidFill>
                <a:latin typeface="Radley"/>
                <a:ea typeface="Radley"/>
                <a:cs typeface="Radley"/>
                <a:sym typeface="Radley"/>
              </a:rPr>
              <a:t>OpenAI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3611225" y="1728472"/>
            <a:ext cx="4010025" cy="4295001"/>
            <a:chOff x="0" y="0"/>
            <a:chExt cx="5346700" cy="5726668"/>
          </a:xfrm>
        </p:grpSpPr>
        <p:sp>
          <p:nvSpPr>
            <p:cNvPr name="TextBox 4" id="4"/>
            <p:cNvSpPr txBox="true"/>
            <p:nvPr/>
          </p:nvSpPr>
          <p:spPr>
            <a:xfrm rot="0">
              <a:off x="0" y="-57150"/>
              <a:ext cx="5346700" cy="62272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r" rtl="true" marL="0" indent="0" lvl="0">
                <a:lnSpc>
                  <a:spcPts val="3919"/>
                </a:lnSpc>
                <a:spcBef>
                  <a:spcPct val="0"/>
                </a:spcBef>
              </a:pPr>
              <a:r>
                <a:rPr lang="en-US" sz="2799">
                  <a:solidFill>
                    <a:srgbClr val="00897B"/>
                  </a:solidFill>
                  <a:latin typeface="Radley"/>
                  <a:ea typeface="Radley"/>
                  <a:cs typeface="Radley"/>
                  <a:sym typeface="Radley"/>
                </a:rPr>
                <a:t>GPT-4o Mini</a:t>
              </a:r>
            </a:p>
          </p:txBody>
        </p:sp>
        <p:sp>
          <p:nvSpPr>
            <p:cNvPr name="TextBox 5" id="5"/>
            <p:cNvSpPr txBox="true"/>
            <p:nvPr/>
          </p:nvSpPr>
          <p:spPr>
            <a:xfrm rot="0">
              <a:off x="0" y="539776"/>
              <a:ext cx="5346700" cy="518689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r" rtl="true" marL="0" indent="0" lvl="0">
                <a:lnSpc>
                  <a:spcPts val="2799"/>
                </a:lnSpc>
              </a:pPr>
              <a:r>
                <a:rPr lang="he-IL" sz="1999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מודל חשיבה (</a:t>
              </a:r>
              <a:r>
                <a:rPr lang="en-US" sz="1999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</a:rPr>
                <a:t>reasoning</a:t>
              </a:r>
              <a:r>
                <a:rPr lang="he-IL" sz="1999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) קטן ומהיר</a:t>
              </a:r>
            </a:p>
            <a:p>
              <a:pPr algn="r" rtl="true" marL="0" indent="0" lvl="0">
                <a:lnSpc>
                  <a:spcPts val="2799"/>
                </a:lnSpc>
              </a:pPr>
            </a:p>
            <a:p>
              <a:pPr algn="r" rtl="true" marL="0" indent="0" lvl="0">
                <a:lnSpc>
                  <a:spcPts val="2799"/>
                </a:lnSpc>
              </a:pPr>
              <a:r>
                <a:rPr lang="he-IL" sz="1999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 יתרונות: </a:t>
              </a:r>
            </a:p>
            <a:p>
              <a:pPr algn="r" rtl="true" marL="0" indent="0" lvl="0">
                <a:lnSpc>
                  <a:spcPts val="2799"/>
                </a:lnSpc>
              </a:pPr>
              <a:r>
                <a:rPr lang="he-IL" sz="1999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- מצוין למתמטיקה וקוד </a:t>
              </a:r>
            </a:p>
            <a:p>
              <a:pPr algn="r" rtl="true" marL="0" indent="0" lvl="0">
                <a:lnSpc>
                  <a:spcPts val="2799"/>
                </a:lnSpc>
              </a:pPr>
              <a:r>
                <a:rPr lang="he-IL" sz="1999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- מהיר וזול </a:t>
              </a:r>
            </a:p>
            <a:p>
              <a:pPr algn="r" rtl="true" marL="0" indent="0" lvl="0">
                <a:lnSpc>
                  <a:spcPts val="2799"/>
                </a:lnSpc>
              </a:pPr>
              <a:r>
                <a:rPr lang="he-IL" sz="1999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- יכולת חשיבה עמוקה </a:t>
              </a:r>
            </a:p>
            <a:p>
              <a:pPr algn="r" rtl="true" marL="0" indent="0" lvl="0">
                <a:lnSpc>
                  <a:spcPts val="2799"/>
                </a:lnSpc>
              </a:pPr>
            </a:p>
            <a:p>
              <a:pPr algn="r" rtl="true" marL="0" indent="0" lvl="0">
                <a:lnSpc>
                  <a:spcPts val="2799"/>
                </a:lnSpc>
              </a:pPr>
              <a:r>
                <a:rPr lang="he-IL" sz="1999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חסרונות: </a:t>
              </a:r>
            </a:p>
            <a:p>
              <a:pPr algn="r" rtl="true" marL="0" indent="0" lvl="0">
                <a:lnSpc>
                  <a:spcPts val="2799"/>
                </a:lnSpc>
              </a:pPr>
              <a:r>
                <a:rPr lang="he-IL" sz="1999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- פחות טוב במשימות לא-טכניות </a:t>
              </a:r>
            </a:p>
            <a:p>
              <a:pPr algn="r" rtl="true" marL="0" indent="0" lvl="0">
                <a:lnSpc>
                  <a:spcPts val="2799"/>
                </a:lnSpc>
              </a:pPr>
            </a:p>
            <a:p>
              <a:pPr algn="r" rtl="true" marL="0" indent="0" lvl="0">
                <a:lnSpc>
                  <a:spcPts val="2799"/>
                </a:lnSpc>
              </a:pPr>
              <a:r>
                <a:rPr lang="he-IL" sz="1999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עלות: $</a:t>
              </a: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4981575" y="1728472"/>
            <a:ext cx="4010025" cy="4352015"/>
            <a:chOff x="0" y="0"/>
            <a:chExt cx="5346700" cy="5802686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57150"/>
              <a:ext cx="5346700" cy="62272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r" rtl="true" marL="0" indent="0" lvl="0">
                <a:lnSpc>
                  <a:spcPts val="3919"/>
                </a:lnSpc>
                <a:spcBef>
                  <a:spcPct val="0"/>
                </a:spcBef>
              </a:pPr>
              <a:r>
                <a:rPr lang="en-US" sz="2799">
                  <a:solidFill>
                    <a:srgbClr val="00897B"/>
                  </a:solidFill>
                  <a:latin typeface="Radley"/>
                  <a:ea typeface="Radley"/>
                  <a:cs typeface="Radley"/>
                  <a:sym typeface="Radley"/>
                </a:rPr>
                <a:t>GPT-5.1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615794"/>
              <a:ext cx="5346700" cy="518689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r" rtl="true" marL="0" indent="0" lvl="0">
                <a:lnSpc>
                  <a:spcPts val="2799"/>
                </a:lnSpc>
                <a:spcBef>
                  <a:spcPct val="0"/>
                </a:spcBef>
              </a:pPr>
              <a:r>
                <a:rPr lang="he-IL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מודל דגל קודם, עדיין חזק מאוד</a:t>
              </a:r>
            </a:p>
            <a:p>
              <a:pPr algn="r" rtl="true" marL="0" indent="0" lvl="0">
                <a:lnSpc>
                  <a:spcPts val="2799"/>
                </a:lnSpc>
                <a:spcBef>
                  <a:spcPct val="0"/>
                </a:spcBef>
              </a:pPr>
            </a:p>
            <a:p>
              <a:pPr algn="r" rtl="true" marL="0" indent="0" lvl="0">
                <a:lnSpc>
                  <a:spcPts val="2799"/>
                </a:lnSpc>
                <a:spcBef>
                  <a:spcPct val="0"/>
                </a:spcBef>
              </a:pPr>
              <a:r>
                <a:rPr lang="he-IL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יתרונות:</a:t>
              </a:r>
            </a:p>
            <a:p>
              <a:pPr algn="r" rtl="true" marL="0" indent="0" lvl="0">
                <a:lnSpc>
                  <a:spcPts val="2799"/>
                </a:lnSpc>
                <a:spcBef>
                  <a:spcPct val="0"/>
                </a:spcBef>
              </a:pPr>
              <a:r>
                <a:rPr lang="he-IL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- ב</a:t>
              </a:r>
              <a:r>
                <a:rPr lang="he-IL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י</a:t>
              </a:r>
              <a:r>
                <a:rPr lang="he-IL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צ</a:t>
              </a:r>
              <a:r>
                <a:rPr lang="he-IL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ו</a:t>
              </a:r>
              <a:r>
                <a:rPr lang="he-IL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עים מע</a:t>
              </a:r>
              <a:r>
                <a:rPr lang="he-IL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ו</a:t>
              </a:r>
              <a:r>
                <a:rPr lang="he-IL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לים</a:t>
              </a:r>
            </a:p>
            <a:p>
              <a:pPr algn="r" rtl="true" marL="0" indent="0" lvl="0">
                <a:lnSpc>
                  <a:spcPts val="2799"/>
                </a:lnSpc>
                <a:spcBef>
                  <a:spcPct val="0"/>
                </a:spcBef>
              </a:pPr>
              <a:r>
                <a:rPr lang="ar-EG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- </a:t>
              </a:r>
              <a:r>
                <a:rPr lang="he-IL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מ</a:t>
              </a:r>
              <a:r>
                <a:rPr lang="he-IL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ה</a:t>
              </a:r>
              <a:r>
                <a:rPr lang="he-IL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י</a:t>
              </a:r>
              <a:r>
                <a:rPr lang="he-IL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ר יותר</a:t>
              </a:r>
              <a:r>
                <a:rPr lang="he-IL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 מ-</a:t>
              </a:r>
              <a:r>
                <a:rPr lang="en-US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</a:rPr>
                <a:t>5.2</a:t>
              </a:r>
            </a:p>
            <a:p>
              <a:pPr algn="r" rtl="true" marL="0" indent="0" lvl="0">
                <a:lnSpc>
                  <a:spcPts val="2799"/>
                </a:lnSpc>
                <a:spcBef>
                  <a:spcPct val="0"/>
                </a:spcBef>
              </a:pPr>
              <a:r>
                <a:rPr lang="he-IL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- י</a:t>
              </a:r>
              <a:r>
                <a:rPr lang="he-IL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ציב </a:t>
              </a:r>
              <a:r>
                <a:rPr lang="he-IL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ו</a:t>
              </a:r>
              <a:r>
                <a:rPr lang="he-IL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נבד</a:t>
              </a:r>
              <a:r>
                <a:rPr lang="he-IL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ק </a:t>
              </a:r>
              <a:r>
                <a:rPr lang="he-IL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היטב</a:t>
              </a:r>
            </a:p>
            <a:p>
              <a:pPr algn="r" rtl="true" marL="0" indent="0" lvl="0">
                <a:lnSpc>
                  <a:spcPts val="2799"/>
                </a:lnSpc>
                <a:spcBef>
                  <a:spcPct val="0"/>
                </a:spcBef>
              </a:pPr>
            </a:p>
            <a:p>
              <a:pPr algn="r" rtl="true" marL="0" indent="0" lvl="0">
                <a:lnSpc>
                  <a:spcPts val="2799"/>
                </a:lnSpc>
                <a:spcBef>
                  <a:spcPct val="0"/>
                </a:spcBef>
              </a:pPr>
              <a:r>
                <a:rPr lang="he-IL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חסרונות:</a:t>
              </a:r>
            </a:p>
            <a:p>
              <a:pPr algn="r" rtl="true" marL="0" indent="0" lvl="0">
                <a:lnSpc>
                  <a:spcPts val="2799"/>
                </a:lnSpc>
                <a:spcBef>
                  <a:spcPct val="0"/>
                </a:spcBef>
              </a:pPr>
              <a:r>
                <a:rPr lang="he-IL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- פחות </a:t>
              </a:r>
              <a:r>
                <a:rPr lang="he-IL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מ</a:t>
              </a:r>
              <a:r>
                <a:rPr lang="he-IL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ד</a:t>
              </a:r>
              <a:r>
                <a:rPr lang="he-IL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וי</a:t>
              </a:r>
              <a:r>
                <a:rPr lang="he-IL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ק </a:t>
              </a:r>
              <a:r>
                <a:rPr lang="he-IL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מ</a:t>
              </a:r>
              <a:r>
                <a:rPr lang="ar-EG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-</a:t>
              </a:r>
              <a:r>
                <a:rPr lang="en-US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</a:rPr>
                <a:t>5.2</a:t>
              </a:r>
              <a:r>
                <a:rPr lang="ar-EG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 </a:t>
              </a:r>
              <a:r>
                <a:rPr lang="he-IL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במש</a:t>
              </a:r>
              <a:r>
                <a:rPr lang="he-IL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י</a:t>
              </a:r>
              <a:r>
                <a:rPr lang="he-IL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מות מו</a:t>
              </a:r>
              <a:r>
                <a:rPr lang="he-IL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ר</a:t>
              </a:r>
              <a:r>
                <a:rPr lang="he-IL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כבות</a:t>
              </a:r>
            </a:p>
            <a:p>
              <a:pPr algn="r" rtl="true" marL="0" indent="0" lvl="0">
                <a:lnSpc>
                  <a:spcPts val="2799"/>
                </a:lnSpc>
                <a:spcBef>
                  <a:spcPct val="0"/>
                </a:spcBef>
              </a:pPr>
            </a:p>
            <a:p>
              <a:pPr algn="r" rtl="true" marL="0" indent="0" lvl="0">
                <a:lnSpc>
                  <a:spcPts val="2799"/>
                </a:lnSpc>
                <a:spcBef>
                  <a:spcPct val="0"/>
                </a:spcBef>
              </a:pPr>
              <a:r>
                <a:rPr lang="he-IL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עלות: $$$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9296400" y="1728472"/>
            <a:ext cx="4010025" cy="4295001"/>
            <a:chOff x="0" y="0"/>
            <a:chExt cx="5346700" cy="5726668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-57150"/>
              <a:ext cx="5346700" cy="62272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r" rtl="true" marL="0" indent="0" lvl="0">
                <a:lnSpc>
                  <a:spcPts val="3919"/>
                </a:lnSpc>
                <a:spcBef>
                  <a:spcPct val="0"/>
                </a:spcBef>
              </a:pPr>
              <a:r>
                <a:rPr lang="en-US" sz="2799">
                  <a:solidFill>
                    <a:srgbClr val="00897B"/>
                  </a:solidFill>
                  <a:latin typeface="Radley"/>
                  <a:ea typeface="Radley"/>
                  <a:cs typeface="Radley"/>
                  <a:sym typeface="Radley"/>
                </a:rPr>
                <a:t>GPT-4o</a:t>
              </a:r>
              <a:r>
                <a:rPr lang="ar-EG" sz="2799">
                  <a:solidFill>
                    <a:srgbClr val="00897B"/>
                  </a:solidFill>
                  <a:latin typeface="Radley"/>
                  <a:ea typeface="Radley"/>
                  <a:cs typeface="Radley"/>
                  <a:sym typeface="Radley"/>
                  <a:rtl val="true"/>
                </a:rPr>
                <a:t> 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539776"/>
              <a:ext cx="5346700" cy="518689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r" rtl="true" marL="0" indent="0" lvl="0">
                <a:lnSpc>
                  <a:spcPts val="2799"/>
                </a:lnSpc>
                <a:spcBef>
                  <a:spcPct val="0"/>
                </a:spcBef>
              </a:pPr>
              <a:r>
                <a:rPr lang="he-IL" sz="1999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מודל</a:t>
              </a:r>
              <a:r>
                <a:rPr lang="he-IL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 מולטימודלי (טקסט, תמונה, קול) </a:t>
              </a:r>
            </a:p>
            <a:p>
              <a:pPr algn="r" rtl="true" marL="0" indent="0" lvl="0">
                <a:lnSpc>
                  <a:spcPts val="2799"/>
                </a:lnSpc>
                <a:spcBef>
                  <a:spcPct val="0"/>
                </a:spcBef>
              </a:pPr>
            </a:p>
            <a:p>
              <a:pPr algn="r" rtl="true" marL="0" indent="0" lvl="0">
                <a:lnSpc>
                  <a:spcPts val="2799"/>
                </a:lnSpc>
                <a:spcBef>
                  <a:spcPct val="0"/>
                </a:spcBef>
              </a:pPr>
              <a:r>
                <a:rPr lang="he-IL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יתרונות:</a:t>
              </a:r>
              <a:r>
                <a:rPr lang="ar-EG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 </a:t>
              </a:r>
            </a:p>
            <a:p>
              <a:pPr algn="r" rtl="true" marL="0" indent="0" lvl="0">
                <a:lnSpc>
                  <a:spcPts val="2799"/>
                </a:lnSpc>
                <a:spcBef>
                  <a:spcPct val="0"/>
                </a:spcBef>
              </a:pPr>
              <a:r>
                <a:rPr lang="he-IL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- איזון </a:t>
              </a:r>
              <a:r>
                <a:rPr lang="he-IL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מצ</a:t>
              </a:r>
              <a:r>
                <a:rPr lang="he-IL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ו</a:t>
              </a:r>
              <a:r>
                <a:rPr lang="he-IL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ין</a:t>
              </a:r>
              <a:r>
                <a:rPr lang="he-IL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 בין מחיר לביצועים</a:t>
              </a:r>
              <a:r>
                <a:rPr lang="ar-EG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 </a:t>
              </a:r>
            </a:p>
            <a:p>
              <a:pPr algn="r" rtl="true" marL="0" indent="0" lvl="0">
                <a:lnSpc>
                  <a:spcPts val="2799"/>
                </a:lnSpc>
                <a:spcBef>
                  <a:spcPct val="0"/>
                </a:spcBef>
              </a:pPr>
              <a:r>
                <a:rPr lang="he-IL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- תמיכה בתמונות וקול </a:t>
              </a:r>
            </a:p>
            <a:p>
              <a:pPr algn="r" rtl="true" marL="0" indent="0" lvl="0">
                <a:lnSpc>
                  <a:spcPts val="2799"/>
                </a:lnSpc>
                <a:spcBef>
                  <a:spcPct val="0"/>
                </a:spcBef>
              </a:pPr>
              <a:r>
                <a:rPr lang="he-IL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- מהיר ו</a:t>
              </a:r>
              <a:r>
                <a:rPr lang="he-IL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אמ</a:t>
              </a:r>
              <a:r>
                <a:rPr lang="he-IL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י</a:t>
              </a:r>
              <a:r>
                <a:rPr lang="he-IL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ן </a:t>
              </a:r>
            </a:p>
            <a:p>
              <a:pPr algn="r" rtl="true" marL="0" indent="0" lvl="0">
                <a:lnSpc>
                  <a:spcPts val="2799"/>
                </a:lnSpc>
                <a:spcBef>
                  <a:spcPct val="0"/>
                </a:spcBef>
              </a:pPr>
            </a:p>
            <a:p>
              <a:pPr algn="r" rtl="true" marL="0" indent="0" lvl="0">
                <a:lnSpc>
                  <a:spcPts val="2799"/>
                </a:lnSpc>
                <a:spcBef>
                  <a:spcPct val="0"/>
                </a:spcBef>
              </a:pPr>
              <a:r>
                <a:rPr lang="he-IL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חסרונות:</a:t>
              </a:r>
              <a:r>
                <a:rPr lang="ar-EG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 </a:t>
              </a:r>
            </a:p>
            <a:p>
              <a:pPr algn="r" rtl="true" marL="0" indent="0" lvl="0">
                <a:lnSpc>
                  <a:spcPts val="2799"/>
                </a:lnSpc>
                <a:spcBef>
                  <a:spcPct val="0"/>
                </a:spcBef>
              </a:pPr>
              <a:r>
                <a:rPr lang="he-IL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- פחות </a:t>
              </a:r>
              <a:r>
                <a:rPr lang="he-IL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חכ</a:t>
              </a:r>
              <a:r>
                <a:rPr lang="he-IL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ם מ</a:t>
              </a:r>
              <a:r>
                <a:rPr lang="he-IL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סד</a:t>
              </a:r>
              <a:r>
                <a:rPr lang="he-IL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רת </a:t>
              </a:r>
              <a:r>
                <a:rPr lang="en-US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</a:rPr>
                <a:t>GPT-5</a:t>
              </a:r>
              <a:r>
                <a:rPr lang="ar-EG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 </a:t>
              </a:r>
            </a:p>
            <a:p>
              <a:pPr algn="r" rtl="true" marL="0" indent="0" lvl="0">
                <a:lnSpc>
                  <a:spcPts val="2799"/>
                </a:lnSpc>
                <a:spcBef>
                  <a:spcPct val="0"/>
                </a:spcBef>
              </a:pPr>
            </a:p>
            <a:p>
              <a:pPr algn="r" rtl="true" marL="0" indent="0" lvl="0">
                <a:lnSpc>
                  <a:spcPts val="2799"/>
                </a:lnSpc>
                <a:spcBef>
                  <a:spcPct val="0"/>
                </a:spcBef>
              </a:pPr>
              <a:r>
                <a:rPr lang="he-IL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עלות: $$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4981575" y="6071098"/>
            <a:ext cx="4010025" cy="3856785"/>
            <a:chOff x="0" y="0"/>
            <a:chExt cx="1391532" cy="133835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391532" cy="1338356"/>
            </a:xfrm>
            <a:custGeom>
              <a:avLst/>
              <a:gdLst/>
              <a:ahLst/>
              <a:cxnLst/>
              <a:rect r="r" b="b" t="t" l="l"/>
              <a:pathLst>
                <a:path h="1338356" w="1391532">
                  <a:moveTo>
                    <a:pt x="1391532" y="0"/>
                  </a:moveTo>
                  <a:lnTo>
                    <a:pt x="0" y="0"/>
                  </a:lnTo>
                  <a:lnTo>
                    <a:pt x="0" y="1338356"/>
                  </a:lnTo>
                  <a:lnTo>
                    <a:pt x="1391532" y="1338356"/>
                  </a:lnTo>
                  <a:close/>
                </a:path>
              </a:pathLst>
            </a:custGeom>
            <a:blipFill>
              <a:blip r:embed="rId2"/>
              <a:stretch>
                <a:fillRect l="0" t="-11070" r="0" b="-1107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9296400" y="6071098"/>
            <a:ext cx="4010025" cy="3856785"/>
            <a:chOff x="0" y="0"/>
            <a:chExt cx="1391532" cy="1338356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391532" cy="1338356"/>
            </a:xfrm>
            <a:custGeom>
              <a:avLst/>
              <a:gdLst/>
              <a:ahLst/>
              <a:cxnLst/>
              <a:rect r="r" b="b" t="t" l="l"/>
              <a:pathLst>
                <a:path h="1338356" w="1391532">
                  <a:moveTo>
                    <a:pt x="1391532" y="0"/>
                  </a:moveTo>
                  <a:lnTo>
                    <a:pt x="0" y="0"/>
                  </a:lnTo>
                  <a:lnTo>
                    <a:pt x="0" y="1338356"/>
                  </a:lnTo>
                  <a:lnTo>
                    <a:pt x="1391532" y="1338356"/>
                  </a:lnTo>
                  <a:close/>
                </a:path>
              </a:pathLst>
            </a:custGeom>
            <a:blipFill>
              <a:blip r:embed="rId3"/>
              <a:stretch>
                <a:fillRect l="0" t="-11070" r="0" b="-11070"/>
              </a:stretch>
            </a:blip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13611225" y="6071098"/>
            <a:ext cx="4010025" cy="3856785"/>
            <a:chOff x="0" y="0"/>
            <a:chExt cx="879848" cy="846225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879848" cy="846225"/>
            </a:xfrm>
            <a:custGeom>
              <a:avLst/>
              <a:gdLst/>
              <a:ahLst/>
              <a:cxnLst/>
              <a:rect r="r" b="b" t="t" l="l"/>
              <a:pathLst>
                <a:path h="846225" w="879848">
                  <a:moveTo>
                    <a:pt x="879848" y="0"/>
                  </a:moveTo>
                  <a:lnTo>
                    <a:pt x="0" y="0"/>
                  </a:lnTo>
                  <a:lnTo>
                    <a:pt x="0" y="846225"/>
                  </a:lnTo>
                  <a:lnTo>
                    <a:pt x="879848" y="846225"/>
                  </a:lnTo>
                  <a:close/>
                </a:path>
              </a:pathLst>
            </a:custGeom>
            <a:blipFill>
              <a:blip r:embed="rId4"/>
              <a:stretch>
                <a:fillRect l="0" t="-11070" r="0" b="-11070"/>
              </a:stretch>
            </a:blip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666421" y="6071098"/>
            <a:ext cx="4010025" cy="3856785"/>
            <a:chOff x="0" y="0"/>
            <a:chExt cx="1391532" cy="1338356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391532" cy="1338356"/>
            </a:xfrm>
            <a:custGeom>
              <a:avLst/>
              <a:gdLst/>
              <a:ahLst/>
              <a:cxnLst/>
              <a:rect r="r" b="b" t="t" l="l"/>
              <a:pathLst>
                <a:path h="1338356" w="1391532">
                  <a:moveTo>
                    <a:pt x="1391532" y="0"/>
                  </a:moveTo>
                  <a:lnTo>
                    <a:pt x="0" y="0"/>
                  </a:lnTo>
                  <a:lnTo>
                    <a:pt x="0" y="1338356"/>
                  </a:lnTo>
                  <a:lnTo>
                    <a:pt x="1391532" y="1338356"/>
                  </a:lnTo>
                  <a:close/>
                </a:path>
              </a:pathLst>
            </a:custGeom>
            <a:blipFill>
              <a:blip r:embed="rId5"/>
              <a:stretch>
                <a:fillRect l="0" t="-11070" r="0" b="-11070"/>
              </a:stretch>
            </a:blip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101035" y="1728472"/>
            <a:ext cx="4575410" cy="4352015"/>
            <a:chOff x="0" y="0"/>
            <a:chExt cx="6100547" cy="5802686"/>
          </a:xfrm>
        </p:grpSpPr>
        <p:sp>
          <p:nvSpPr>
            <p:cNvPr name="TextBox 21" id="21"/>
            <p:cNvSpPr txBox="true"/>
            <p:nvPr/>
          </p:nvSpPr>
          <p:spPr>
            <a:xfrm rot="0">
              <a:off x="754286" y="-57150"/>
              <a:ext cx="5346261" cy="62272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r" rtl="true" marL="0" indent="0" lvl="0">
                <a:lnSpc>
                  <a:spcPts val="3919"/>
                </a:lnSpc>
                <a:spcBef>
                  <a:spcPct val="0"/>
                </a:spcBef>
              </a:pPr>
              <a:r>
                <a:rPr lang="en-US" sz="2799">
                  <a:solidFill>
                    <a:srgbClr val="00897B"/>
                  </a:solidFill>
                  <a:latin typeface="Radley"/>
                  <a:ea typeface="Radley"/>
                  <a:cs typeface="Radley"/>
                  <a:sym typeface="Radley"/>
                </a:rPr>
                <a:t>GPT-5.2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0" y="615794"/>
              <a:ext cx="6100547" cy="518689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r" rtl="true" marL="0" indent="0" lvl="0">
                <a:lnSpc>
                  <a:spcPts val="2799"/>
                </a:lnSpc>
                <a:spcBef>
                  <a:spcPct val="0"/>
                </a:spcBef>
              </a:pPr>
              <a:r>
                <a:rPr lang="he-IL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המודל המתקדם ביותר לעבודה מקצועית</a:t>
              </a:r>
            </a:p>
            <a:p>
              <a:pPr algn="r" rtl="true" marL="0" indent="0" lvl="0">
                <a:lnSpc>
                  <a:spcPts val="2799"/>
                </a:lnSpc>
                <a:spcBef>
                  <a:spcPct val="0"/>
                </a:spcBef>
              </a:pPr>
            </a:p>
            <a:p>
              <a:pPr algn="r" rtl="true" marL="0" indent="0" lvl="0">
                <a:lnSpc>
                  <a:spcPts val="2799"/>
                </a:lnSpc>
                <a:spcBef>
                  <a:spcPct val="0"/>
                </a:spcBef>
              </a:pPr>
              <a:r>
                <a:rPr lang="he-IL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יתרונות:</a:t>
              </a:r>
            </a:p>
            <a:p>
              <a:pPr algn="r" rtl="true" marL="0" indent="0" lvl="0">
                <a:lnSpc>
                  <a:spcPts val="2799"/>
                </a:lnSpc>
                <a:spcBef>
                  <a:spcPct val="0"/>
                </a:spcBef>
              </a:pPr>
              <a:r>
                <a:rPr lang="he-IL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- ה</a:t>
              </a:r>
              <a:r>
                <a:rPr lang="he-IL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כ</a:t>
              </a:r>
              <a:r>
                <a:rPr lang="he-IL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י </a:t>
              </a:r>
              <a:r>
                <a:rPr lang="he-IL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חכם </a:t>
              </a:r>
              <a:r>
                <a:rPr lang="he-IL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ו</a:t>
              </a:r>
              <a:r>
                <a:rPr lang="he-IL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מ</a:t>
              </a:r>
              <a:r>
                <a:rPr lang="he-IL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ד</a:t>
              </a:r>
              <a:r>
                <a:rPr lang="he-IL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ויק</a:t>
              </a:r>
              <a:r>
                <a:rPr lang="he-IL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 כיו</a:t>
              </a:r>
              <a:r>
                <a:rPr lang="he-IL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ם</a:t>
              </a:r>
            </a:p>
            <a:p>
              <a:pPr algn="r" rtl="true" marL="0" indent="0" lvl="0">
                <a:lnSpc>
                  <a:spcPts val="2799"/>
                </a:lnSpc>
                <a:spcBef>
                  <a:spcPct val="0"/>
                </a:spcBef>
              </a:pPr>
              <a:r>
                <a:rPr lang="ar-EG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- </a:t>
              </a:r>
              <a:r>
                <a:rPr lang="he-IL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הבנת הקשר אר</a:t>
              </a:r>
              <a:r>
                <a:rPr lang="he-IL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ו</a:t>
              </a:r>
              <a:r>
                <a:rPr lang="he-IL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ך</a:t>
              </a:r>
              <a:r>
                <a:rPr lang="ar-EG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 </a:t>
              </a:r>
              <a:r>
                <a:rPr lang="he-IL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ופחות הזיות</a:t>
              </a:r>
            </a:p>
            <a:p>
              <a:pPr algn="r" rtl="true" marL="0" indent="0" lvl="0">
                <a:lnSpc>
                  <a:spcPts val="2799"/>
                </a:lnSpc>
                <a:spcBef>
                  <a:spcPct val="0"/>
                </a:spcBef>
              </a:pPr>
            </a:p>
            <a:p>
              <a:pPr algn="r" rtl="true" marL="0" indent="0" lvl="0">
                <a:lnSpc>
                  <a:spcPts val="2799"/>
                </a:lnSpc>
                <a:spcBef>
                  <a:spcPct val="0"/>
                </a:spcBef>
              </a:pPr>
              <a:r>
                <a:rPr lang="he-IL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חסרונות:</a:t>
              </a:r>
            </a:p>
            <a:p>
              <a:pPr algn="r" rtl="true" marL="0" indent="0" lvl="0">
                <a:lnSpc>
                  <a:spcPts val="2799"/>
                </a:lnSpc>
                <a:spcBef>
                  <a:spcPct val="0"/>
                </a:spcBef>
              </a:pPr>
              <a:r>
                <a:rPr lang="he-IL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- ה</a:t>
              </a:r>
              <a:r>
                <a:rPr lang="he-IL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י</a:t>
              </a:r>
              <a:r>
                <a:rPr lang="he-IL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קר</a:t>
              </a:r>
              <a:r>
                <a:rPr lang="ar-EG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 </a:t>
              </a:r>
              <a:r>
                <a:rPr lang="he-IL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ב</a:t>
              </a:r>
              <a:r>
                <a:rPr lang="he-IL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יות</a:t>
              </a:r>
              <a:r>
                <a:rPr lang="he-IL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ר</a:t>
              </a:r>
            </a:p>
            <a:p>
              <a:pPr algn="r" rtl="true" marL="0" indent="0" lvl="0">
                <a:lnSpc>
                  <a:spcPts val="2799"/>
                </a:lnSpc>
                <a:spcBef>
                  <a:spcPct val="0"/>
                </a:spcBef>
              </a:pPr>
              <a:r>
                <a:rPr lang="he-IL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- חדש </a:t>
              </a:r>
              <a:r>
                <a:rPr lang="he-IL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י</a:t>
              </a:r>
              <a:r>
                <a:rPr lang="he-IL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חס</a:t>
              </a:r>
              <a:r>
                <a:rPr lang="he-IL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ית</a:t>
              </a:r>
            </a:p>
            <a:p>
              <a:pPr algn="r" rtl="true" marL="0" indent="0" lvl="0">
                <a:lnSpc>
                  <a:spcPts val="2799"/>
                </a:lnSpc>
                <a:spcBef>
                  <a:spcPct val="0"/>
                </a:spcBef>
              </a:pPr>
            </a:p>
            <a:p>
              <a:pPr algn="r" rtl="true" marL="0" indent="0" lvl="0">
                <a:lnSpc>
                  <a:spcPts val="2799"/>
                </a:lnSpc>
                <a:spcBef>
                  <a:spcPct val="0"/>
                </a:spcBef>
              </a:pPr>
              <a:r>
                <a:rPr lang="he-IL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עלות: </a:t>
              </a:r>
              <a:r>
                <a:rPr lang="ar-EG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$$$</a:t>
              </a:r>
              <a:r>
                <a:rPr lang="ar-EG" sz="1999" strike="noStrike" u="none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$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390385" y="666755"/>
            <a:ext cx="7230865" cy="7077075"/>
            <a:chOff x="0" y="0"/>
            <a:chExt cx="9641153" cy="9436100"/>
          </a:xfrm>
        </p:grpSpPr>
        <p:sp>
          <p:nvSpPr>
            <p:cNvPr name="TextBox 3" id="3"/>
            <p:cNvSpPr txBox="true"/>
            <p:nvPr/>
          </p:nvSpPr>
          <p:spPr>
            <a:xfrm rot="0">
              <a:off x="0" y="57150"/>
              <a:ext cx="9614826" cy="267927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r" rtl="true" marL="0" indent="0" lvl="0">
                <a:lnSpc>
                  <a:spcPts val="7840"/>
                </a:lnSpc>
                <a:spcBef>
                  <a:spcPct val="0"/>
                </a:spcBef>
              </a:pPr>
              <a:r>
                <a:rPr lang="he-IL" sz="7000" i="true">
                  <a:solidFill>
                    <a:srgbClr val="00897B"/>
                  </a:solidFill>
                  <a:latin typeface="Radley Italics"/>
                  <a:ea typeface="Radley Italics"/>
                  <a:cs typeface="Radley Italics"/>
                  <a:sym typeface="Radley Italics"/>
                  <a:rtl val="true"/>
                </a:rPr>
                <a:t>בחירת המודל המומלץ</a:t>
              </a:r>
            </a:p>
          </p:txBody>
        </p:sp>
        <p:sp>
          <p:nvSpPr>
            <p:cNvPr name="TextBox 4" id="4"/>
            <p:cNvSpPr txBox="true"/>
            <p:nvPr/>
          </p:nvSpPr>
          <p:spPr>
            <a:xfrm rot="0">
              <a:off x="0" y="3708400"/>
              <a:ext cx="9614826" cy="13970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r" rtl="true" marL="0" indent="0" lvl="0">
                <a:lnSpc>
                  <a:spcPts val="4199"/>
                </a:lnSpc>
                <a:spcBef>
                  <a:spcPct val="0"/>
                </a:spcBef>
              </a:pPr>
              <a:r>
                <a:rPr lang="he-IL" sz="3499" u="none">
                  <a:solidFill>
                    <a:srgbClr val="00897B"/>
                  </a:solidFill>
                  <a:latin typeface="Radley"/>
                  <a:ea typeface="Radley"/>
                  <a:cs typeface="Radley"/>
                  <a:sym typeface="Radley"/>
                  <a:rtl val="true"/>
                </a:rPr>
                <a:t>בחירה חכמה בין </a:t>
              </a:r>
              <a:r>
                <a:rPr lang="en-US" sz="3499" u="none">
                  <a:solidFill>
                    <a:srgbClr val="00897B"/>
                  </a:solidFill>
                  <a:latin typeface="Radley"/>
                  <a:ea typeface="Radley"/>
                  <a:cs typeface="Radley"/>
                  <a:sym typeface="Radley"/>
                </a:rPr>
                <a:t>GPT-5.2</a:t>
              </a:r>
              <a:r>
                <a:rPr lang="he-IL" sz="3499" u="none">
                  <a:solidFill>
                    <a:srgbClr val="00897B"/>
                  </a:solidFill>
                  <a:latin typeface="Radley"/>
                  <a:ea typeface="Radley"/>
                  <a:cs typeface="Radley"/>
                  <a:sym typeface="Radley"/>
                  <a:rtl val="true"/>
                </a:rPr>
                <a:t> ל-</a:t>
              </a:r>
              <a:r>
                <a:rPr lang="en-US" sz="3499" u="none">
                  <a:solidFill>
                    <a:srgbClr val="00897B"/>
                  </a:solidFill>
                  <a:latin typeface="Radley"/>
                  <a:ea typeface="Radley"/>
                  <a:cs typeface="Radley"/>
                  <a:sym typeface="Radley"/>
                </a:rPr>
                <a:t>GPT-4o</a:t>
              </a:r>
              <a:r>
                <a:rPr lang="he-IL" sz="3499" u="none">
                  <a:solidFill>
                    <a:srgbClr val="00897B"/>
                  </a:solidFill>
                  <a:latin typeface="Radley"/>
                  <a:ea typeface="Radley"/>
                  <a:cs typeface="Radley"/>
                  <a:sym typeface="Radley"/>
                  <a:rtl val="true"/>
                </a:rPr>
                <a:t> עבור צרכים רפואיים</a:t>
              </a:r>
            </a:p>
          </p:txBody>
        </p:sp>
        <p:sp>
          <p:nvSpPr>
            <p:cNvPr name="AutoShape 5" id="5"/>
            <p:cNvSpPr/>
            <p:nvPr/>
          </p:nvSpPr>
          <p:spPr>
            <a:xfrm>
              <a:off x="26326" y="3222414"/>
              <a:ext cx="9614826" cy="0"/>
            </a:xfrm>
            <a:prstGeom prst="line">
              <a:avLst/>
            </a:prstGeom>
            <a:ln cap="flat" w="25400">
              <a:solidFill>
                <a:srgbClr val="00897B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TextBox 6" id="6"/>
            <p:cNvSpPr txBox="true"/>
            <p:nvPr/>
          </p:nvSpPr>
          <p:spPr>
            <a:xfrm rot="0">
              <a:off x="26326" y="5740400"/>
              <a:ext cx="9588500" cy="36957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r" rtl="true" marL="0" indent="0" lvl="0">
                <a:lnSpc>
                  <a:spcPts val="2400"/>
                </a:lnSpc>
              </a:pPr>
              <a:r>
                <a:rPr lang="he-IL" sz="2000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המלצה לבוט מיון חירום רפואי: </a:t>
              </a:r>
              <a:r>
                <a:rPr lang="en-US" sz="2000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</a:rPr>
                <a:t>GPT-5.2</a:t>
              </a:r>
              <a:r>
                <a:rPr lang="he-IL" sz="2000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 או </a:t>
              </a:r>
              <a:r>
                <a:rPr lang="en-US" sz="2000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</a:rPr>
                <a:t>GPT-4o</a:t>
              </a:r>
            </a:p>
            <a:p>
              <a:pPr algn="r" rtl="true" marL="0" indent="0" lvl="0">
                <a:lnSpc>
                  <a:spcPts val="2400"/>
                </a:lnSpc>
              </a:pPr>
            </a:p>
            <a:p>
              <a:pPr algn="r" rtl="true" marL="0" indent="0" lvl="0">
                <a:lnSpc>
                  <a:spcPts val="2400"/>
                </a:lnSpc>
              </a:pPr>
              <a:r>
                <a:rPr lang="he-IL" sz="2000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המודל </a:t>
              </a:r>
              <a:r>
                <a:rPr lang="en-US" sz="2000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</a:rPr>
                <a:t>GPT-5.2</a:t>
              </a:r>
              <a:r>
                <a:rPr lang="he-IL" sz="2000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 מומלץ אם התקציב מאפשר - דיוק מקסימלי קריטי בהחלטות רפואיות.</a:t>
              </a:r>
            </a:p>
            <a:p>
              <a:pPr algn="r" rtl="true" marL="0" indent="0" lvl="0">
                <a:lnSpc>
                  <a:spcPts val="2400"/>
                </a:lnSpc>
              </a:pPr>
            </a:p>
            <a:p>
              <a:pPr algn="r" rtl="true" marL="0" indent="0" lvl="0">
                <a:lnSpc>
                  <a:spcPts val="2400"/>
                </a:lnSpc>
              </a:pPr>
              <a:r>
                <a:rPr lang="he-IL" sz="2000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כאופציה חלופית, </a:t>
              </a:r>
              <a:r>
                <a:rPr lang="en-US" sz="2000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</a:rPr>
                <a:t>GPT-4o</a:t>
              </a:r>
              <a:r>
                <a:rPr lang="ar-EG" sz="2000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 </a:t>
              </a:r>
              <a:r>
                <a:rPr lang="he-IL" sz="2000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מציע ביצועים מצוינים עם עלות נמוכה יותר, ומתאים לשאילתות בסיכון נמוך.</a:t>
              </a:r>
            </a:p>
            <a:p>
              <a:pPr algn="r" rtl="true" marL="0" indent="0" lvl="0">
                <a:lnSpc>
                  <a:spcPts val="2400"/>
                </a:lnSpc>
              </a:pPr>
            </a:p>
            <a:p>
              <a:pPr algn="r" rtl="true" marL="0" indent="0" lvl="0">
                <a:lnSpc>
                  <a:spcPts val="2400"/>
                </a:lnSpc>
              </a:pPr>
              <a:r>
                <a:rPr lang="he-IL" sz="2000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לסיכום: עבור בוט מיון חירום - נשתמש ב-</a:t>
              </a:r>
              <a:r>
                <a:rPr lang="en-US" sz="2000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</a:rPr>
                <a:t>GPT-5.2</a:t>
              </a:r>
              <a:r>
                <a:rPr lang="ar-EG" sz="2000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.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5449520" y="9184102"/>
            <a:ext cx="2171730" cy="2205796"/>
            <a:chOff x="0" y="0"/>
            <a:chExt cx="812800" cy="8255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1270" y="0"/>
              <a:ext cx="810260" cy="822960"/>
            </a:xfrm>
            <a:custGeom>
              <a:avLst/>
              <a:gdLst/>
              <a:ahLst/>
              <a:cxnLst/>
              <a:rect r="r" b="b" t="t" l="l"/>
              <a:pathLst>
                <a:path h="822960" w="810260">
                  <a:moveTo>
                    <a:pt x="405130" y="0"/>
                  </a:moveTo>
                  <a:lnTo>
                    <a:pt x="359410" y="151130"/>
                  </a:lnTo>
                  <a:lnTo>
                    <a:pt x="264160" y="25400"/>
                  </a:lnTo>
                  <a:lnTo>
                    <a:pt x="273050" y="181610"/>
                  </a:lnTo>
                  <a:lnTo>
                    <a:pt x="140970" y="96520"/>
                  </a:lnTo>
                  <a:lnTo>
                    <a:pt x="201930" y="241300"/>
                  </a:lnTo>
                  <a:lnTo>
                    <a:pt x="49530" y="205740"/>
                  </a:lnTo>
                  <a:lnTo>
                    <a:pt x="156210" y="321310"/>
                  </a:lnTo>
                  <a:lnTo>
                    <a:pt x="0" y="340360"/>
                  </a:lnTo>
                  <a:lnTo>
                    <a:pt x="140970" y="411480"/>
                  </a:lnTo>
                  <a:lnTo>
                    <a:pt x="0" y="482600"/>
                  </a:lnTo>
                  <a:lnTo>
                    <a:pt x="156210" y="501650"/>
                  </a:lnTo>
                  <a:lnTo>
                    <a:pt x="49530" y="617220"/>
                  </a:lnTo>
                  <a:lnTo>
                    <a:pt x="201930" y="581660"/>
                  </a:lnTo>
                  <a:lnTo>
                    <a:pt x="140970" y="726440"/>
                  </a:lnTo>
                  <a:lnTo>
                    <a:pt x="273050" y="640080"/>
                  </a:lnTo>
                  <a:lnTo>
                    <a:pt x="264160" y="797560"/>
                  </a:lnTo>
                  <a:lnTo>
                    <a:pt x="359410" y="671830"/>
                  </a:lnTo>
                  <a:lnTo>
                    <a:pt x="405130" y="822960"/>
                  </a:lnTo>
                  <a:lnTo>
                    <a:pt x="450850" y="671830"/>
                  </a:lnTo>
                  <a:lnTo>
                    <a:pt x="546100" y="797560"/>
                  </a:lnTo>
                  <a:lnTo>
                    <a:pt x="537210" y="640080"/>
                  </a:lnTo>
                  <a:lnTo>
                    <a:pt x="669290" y="726440"/>
                  </a:lnTo>
                  <a:lnTo>
                    <a:pt x="608330" y="581660"/>
                  </a:lnTo>
                  <a:lnTo>
                    <a:pt x="760730" y="617220"/>
                  </a:lnTo>
                  <a:lnTo>
                    <a:pt x="654050" y="501650"/>
                  </a:lnTo>
                  <a:lnTo>
                    <a:pt x="810260" y="482600"/>
                  </a:lnTo>
                  <a:lnTo>
                    <a:pt x="669290" y="411480"/>
                  </a:lnTo>
                  <a:lnTo>
                    <a:pt x="810260" y="340360"/>
                  </a:lnTo>
                  <a:lnTo>
                    <a:pt x="654050" y="321310"/>
                  </a:lnTo>
                  <a:lnTo>
                    <a:pt x="760730" y="205740"/>
                  </a:lnTo>
                  <a:lnTo>
                    <a:pt x="608330" y="241300"/>
                  </a:lnTo>
                  <a:lnTo>
                    <a:pt x="669290" y="96520"/>
                  </a:lnTo>
                  <a:lnTo>
                    <a:pt x="537210" y="181610"/>
                  </a:lnTo>
                  <a:lnTo>
                    <a:pt x="546100" y="25400"/>
                  </a:lnTo>
                  <a:lnTo>
                    <a:pt x="450850" y="151130"/>
                  </a:lnTo>
                  <a:close/>
                </a:path>
              </a:pathLst>
            </a:custGeom>
            <a:solidFill>
              <a:srgbClr val="00897B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141746" y="112576"/>
              <a:ext cx="529308" cy="55936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rtl="true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0">
            <a:off x="0" y="1701965"/>
            <a:ext cx="8573028" cy="8585035"/>
          </a:xfrm>
          <a:custGeom>
            <a:avLst/>
            <a:gdLst/>
            <a:ahLst/>
            <a:cxnLst/>
            <a:rect r="r" b="b" t="t" l="l"/>
            <a:pathLst>
              <a:path h="8585035" w="8573028">
                <a:moveTo>
                  <a:pt x="0" y="0"/>
                </a:moveTo>
                <a:lnTo>
                  <a:pt x="8573028" y="0"/>
                </a:lnTo>
                <a:lnTo>
                  <a:pt x="8573028" y="8585035"/>
                </a:lnTo>
                <a:lnTo>
                  <a:pt x="0" y="858503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5449520" y="9184102"/>
            <a:ext cx="2171730" cy="2205796"/>
            <a:chOff x="0" y="0"/>
            <a:chExt cx="812800" cy="825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1270" y="0"/>
              <a:ext cx="810260" cy="822960"/>
            </a:xfrm>
            <a:custGeom>
              <a:avLst/>
              <a:gdLst/>
              <a:ahLst/>
              <a:cxnLst/>
              <a:rect r="r" b="b" t="t" l="l"/>
              <a:pathLst>
                <a:path h="822960" w="810260">
                  <a:moveTo>
                    <a:pt x="405130" y="0"/>
                  </a:moveTo>
                  <a:lnTo>
                    <a:pt x="359410" y="151130"/>
                  </a:lnTo>
                  <a:lnTo>
                    <a:pt x="264160" y="25400"/>
                  </a:lnTo>
                  <a:lnTo>
                    <a:pt x="273050" y="181610"/>
                  </a:lnTo>
                  <a:lnTo>
                    <a:pt x="140970" y="96520"/>
                  </a:lnTo>
                  <a:lnTo>
                    <a:pt x="201930" y="241300"/>
                  </a:lnTo>
                  <a:lnTo>
                    <a:pt x="49530" y="205740"/>
                  </a:lnTo>
                  <a:lnTo>
                    <a:pt x="156210" y="321310"/>
                  </a:lnTo>
                  <a:lnTo>
                    <a:pt x="0" y="340360"/>
                  </a:lnTo>
                  <a:lnTo>
                    <a:pt x="140970" y="411480"/>
                  </a:lnTo>
                  <a:lnTo>
                    <a:pt x="0" y="482600"/>
                  </a:lnTo>
                  <a:lnTo>
                    <a:pt x="156210" y="501650"/>
                  </a:lnTo>
                  <a:lnTo>
                    <a:pt x="49530" y="617220"/>
                  </a:lnTo>
                  <a:lnTo>
                    <a:pt x="201930" y="581660"/>
                  </a:lnTo>
                  <a:lnTo>
                    <a:pt x="140970" y="726440"/>
                  </a:lnTo>
                  <a:lnTo>
                    <a:pt x="273050" y="640080"/>
                  </a:lnTo>
                  <a:lnTo>
                    <a:pt x="264160" y="797560"/>
                  </a:lnTo>
                  <a:lnTo>
                    <a:pt x="359410" y="671830"/>
                  </a:lnTo>
                  <a:lnTo>
                    <a:pt x="405130" y="822960"/>
                  </a:lnTo>
                  <a:lnTo>
                    <a:pt x="450850" y="671830"/>
                  </a:lnTo>
                  <a:lnTo>
                    <a:pt x="546100" y="797560"/>
                  </a:lnTo>
                  <a:lnTo>
                    <a:pt x="537210" y="640080"/>
                  </a:lnTo>
                  <a:lnTo>
                    <a:pt x="669290" y="726440"/>
                  </a:lnTo>
                  <a:lnTo>
                    <a:pt x="608330" y="581660"/>
                  </a:lnTo>
                  <a:lnTo>
                    <a:pt x="760730" y="617220"/>
                  </a:lnTo>
                  <a:lnTo>
                    <a:pt x="654050" y="501650"/>
                  </a:lnTo>
                  <a:lnTo>
                    <a:pt x="810260" y="482600"/>
                  </a:lnTo>
                  <a:lnTo>
                    <a:pt x="669290" y="411480"/>
                  </a:lnTo>
                  <a:lnTo>
                    <a:pt x="810260" y="340360"/>
                  </a:lnTo>
                  <a:lnTo>
                    <a:pt x="654050" y="321310"/>
                  </a:lnTo>
                  <a:lnTo>
                    <a:pt x="760730" y="205740"/>
                  </a:lnTo>
                  <a:lnTo>
                    <a:pt x="608330" y="241300"/>
                  </a:lnTo>
                  <a:lnTo>
                    <a:pt x="669290" y="96520"/>
                  </a:lnTo>
                  <a:lnTo>
                    <a:pt x="537210" y="181610"/>
                  </a:lnTo>
                  <a:lnTo>
                    <a:pt x="546100" y="25400"/>
                  </a:lnTo>
                  <a:lnTo>
                    <a:pt x="450850" y="151130"/>
                  </a:lnTo>
                  <a:close/>
                </a:path>
              </a:pathLst>
            </a:custGeom>
            <a:solidFill>
              <a:srgbClr val="00897B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141746" y="112576"/>
              <a:ext cx="529308" cy="55936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rtl="true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496764" y="1866822"/>
            <a:ext cx="8061410" cy="7317280"/>
          </a:xfrm>
          <a:custGeom>
            <a:avLst/>
            <a:gdLst/>
            <a:ahLst/>
            <a:cxnLst/>
            <a:rect r="r" b="b" t="t" l="l"/>
            <a:pathLst>
              <a:path h="7317280" w="8061410">
                <a:moveTo>
                  <a:pt x="0" y="0"/>
                </a:moveTo>
                <a:lnTo>
                  <a:pt x="8061410" y="0"/>
                </a:lnTo>
                <a:lnTo>
                  <a:pt x="8061410" y="7317280"/>
                </a:lnTo>
                <a:lnTo>
                  <a:pt x="0" y="731728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8901886" y="1866822"/>
            <a:ext cx="8719364" cy="5560904"/>
          </a:xfrm>
          <a:custGeom>
            <a:avLst/>
            <a:gdLst/>
            <a:ahLst/>
            <a:cxnLst/>
            <a:rect r="r" b="b" t="t" l="l"/>
            <a:pathLst>
              <a:path h="5560904" w="8719364">
                <a:moveTo>
                  <a:pt x="0" y="0"/>
                </a:moveTo>
                <a:lnTo>
                  <a:pt x="8719364" y="0"/>
                </a:lnTo>
                <a:lnTo>
                  <a:pt x="8719364" y="5560904"/>
                </a:lnTo>
                <a:lnTo>
                  <a:pt x="0" y="556090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496764" y="714375"/>
            <a:ext cx="17124486" cy="8755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rtl="true" marL="0" indent="0" lvl="0">
              <a:lnSpc>
                <a:spcPts val="6817"/>
              </a:lnSpc>
              <a:spcBef>
                <a:spcPct val="0"/>
              </a:spcBef>
            </a:pPr>
            <a:r>
              <a:rPr lang="he-IL" sz="6087">
                <a:solidFill>
                  <a:srgbClr val="00897B"/>
                </a:solidFill>
                <a:latin typeface="Radley"/>
                <a:ea typeface="Radley"/>
                <a:cs typeface="Radley"/>
                <a:sym typeface="Radley"/>
                <a:rtl val="true"/>
              </a:rPr>
              <a:t>הפרומפט המלא של מודל הבינה המלאכותית 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5449520" y="9184102"/>
            <a:ext cx="2171730" cy="2205796"/>
            <a:chOff x="0" y="0"/>
            <a:chExt cx="812800" cy="825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1270" y="0"/>
              <a:ext cx="810260" cy="822960"/>
            </a:xfrm>
            <a:custGeom>
              <a:avLst/>
              <a:gdLst/>
              <a:ahLst/>
              <a:cxnLst/>
              <a:rect r="r" b="b" t="t" l="l"/>
              <a:pathLst>
                <a:path h="822960" w="810260">
                  <a:moveTo>
                    <a:pt x="405130" y="0"/>
                  </a:moveTo>
                  <a:lnTo>
                    <a:pt x="359410" y="151130"/>
                  </a:lnTo>
                  <a:lnTo>
                    <a:pt x="264160" y="25400"/>
                  </a:lnTo>
                  <a:lnTo>
                    <a:pt x="273050" y="181610"/>
                  </a:lnTo>
                  <a:lnTo>
                    <a:pt x="140970" y="96520"/>
                  </a:lnTo>
                  <a:lnTo>
                    <a:pt x="201930" y="241300"/>
                  </a:lnTo>
                  <a:lnTo>
                    <a:pt x="49530" y="205740"/>
                  </a:lnTo>
                  <a:lnTo>
                    <a:pt x="156210" y="321310"/>
                  </a:lnTo>
                  <a:lnTo>
                    <a:pt x="0" y="340360"/>
                  </a:lnTo>
                  <a:lnTo>
                    <a:pt x="140970" y="411480"/>
                  </a:lnTo>
                  <a:lnTo>
                    <a:pt x="0" y="482600"/>
                  </a:lnTo>
                  <a:lnTo>
                    <a:pt x="156210" y="501650"/>
                  </a:lnTo>
                  <a:lnTo>
                    <a:pt x="49530" y="617220"/>
                  </a:lnTo>
                  <a:lnTo>
                    <a:pt x="201930" y="581660"/>
                  </a:lnTo>
                  <a:lnTo>
                    <a:pt x="140970" y="726440"/>
                  </a:lnTo>
                  <a:lnTo>
                    <a:pt x="273050" y="640080"/>
                  </a:lnTo>
                  <a:lnTo>
                    <a:pt x="264160" y="797560"/>
                  </a:lnTo>
                  <a:lnTo>
                    <a:pt x="359410" y="671830"/>
                  </a:lnTo>
                  <a:lnTo>
                    <a:pt x="405130" y="822960"/>
                  </a:lnTo>
                  <a:lnTo>
                    <a:pt x="450850" y="671830"/>
                  </a:lnTo>
                  <a:lnTo>
                    <a:pt x="546100" y="797560"/>
                  </a:lnTo>
                  <a:lnTo>
                    <a:pt x="537210" y="640080"/>
                  </a:lnTo>
                  <a:lnTo>
                    <a:pt x="669290" y="726440"/>
                  </a:lnTo>
                  <a:lnTo>
                    <a:pt x="608330" y="581660"/>
                  </a:lnTo>
                  <a:lnTo>
                    <a:pt x="760730" y="617220"/>
                  </a:lnTo>
                  <a:lnTo>
                    <a:pt x="654050" y="501650"/>
                  </a:lnTo>
                  <a:lnTo>
                    <a:pt x="810260" y="482600"/>
                  </a:lnTo>
                  <a:lnTo>
                    <a:pt x="669290" y="411480"/>
                  </a:lnTo>
                  <a:lnTo>
                    <a:pt x="810260" y="340360"/>
                  </a:lnTo>
                  <a:lnTo>
                    <a:pt x="654050" y="321310"/>
                  </a:lnTo>
                  <a:lnTo>
                    <a:pt x="760730" y="205740"/>
                  </a:lnTo>
                  <a:lnTo>
                    <a:pt x="608330" y="241300"/>
                  </a:lnTo>
                  <a:lnTo>
                    <a:pt x="669290" y="96520"/>
                  </a:lnTo>
                  <a:lnTo>
                    <a:pt x="537210" y="181610"/>
                  </a:lnTo>
                  <a:lnTo>
                    <a:pt x="546100" y="25400"/>
                  </a:lnTo>
                  <a:lnTo>
                    <a:pt x="450850" y="151130"/>
                  </a:lnTo>
                  <a:close/>
                </a:path>
              </a:pathLst>
            </a:custGeom>
            <a:solidFill>
              <a:srgbClr val="00897B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141746" y="112576"/>
              <a:ext cx="529308" cy="55936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rtl="true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9505950" y="1991794"/>
            <a:ext cx="8115300" cy="7266506"/>
          </a:xfrm>
          <a:custGeom>
            <a:avLst/>
            <a:gdLst/>
            <a:ahLst/>
            <a:cxnLst/>
            <a:rect r="r" b="b" t="t" l="l"/>
            <a:pathLst>
              <a:path h="7266506" w="8115300">
                <a:moveTo>
                  <a:pt x="0" y="0"/>
                </a:moveTo>
                <a:lnTo>
                  <a:pt x="8115300" y="0"/>
                </a:lnTo>
                <a:lnTo>
                  <a:pt x="8115300" y="7266506"/>
                </a:lnTo>
                <a:lnTo>
                  <a:pt x="0" y="726650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666750" y="1931974"/>
            <a:ext cx="8477250" cy="6891184"/>
          </a:xfrm>
          <a:custGeom>
            <a:avLst/>
            <a:gdLst/>
            <a:ahLst/>
            <a:cxnLst/>
            <a:rect r="r" b="b" t="t" l="l"/>
            <a:pathLst>
              <a:path h="6891184" w="8477250">
                <a:moveTo>
                  <a:pt x="0" y="0"/>
                </a:moveTo>
                <a:lnTo>
                  <a:pt x="8477250" y="0"/>
                </a:lnTo>
                <a:lnTo>
                  <a:pt x="8477250" y="6891184"/>
                </a:lnTo>
                <a:lnTo>
                  <a:pt x="0" y="689118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7615783" y="704850"/>
            <a:ext cx="10005467" cy="9215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rtl="true" marL="0" indent="0" lvl="0">
              <a:lnSpc>
                <a:spcPts val="7086"/>
              </a:lnSpc>
              <a:spcBef>
                <a:spcPct val="0"/>
              </a:spcBef>
            </a:pPr>
            <a:r>
              <a:rPr lang="he-IL" sz="6326">
                <a:solidFill>
                  <a:srgbClr val="00897B"/>
                </a:solidFill>
                <a:latin typeface="Radley"/>
                <a:ea typeface="Radley"/>
                <a:cs typeface="Radley"/>
                <a:sym typeface="Radley"/>
                <a:rtl val="true"/>
              </a:rPr>
              <a:t>דוגמת שיחה עם המטופל א׳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5449520" y="9184102"/>
            <a:ext cx="2171730" cy="2205796"/>
            <a:chOff x="0" y="0"/>
            <a:chExt cx="812800" cy="825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1270" y="0"/>
              <a:ext cx="810260" cy="822960"/>
            </a:xfrm>
            <a:custGeom>
              <a:avLst/>
              <a:gdLst/>
              <a:ahLst/>
              <a:cxnLst/>
              <a:rect r="r" b="b" t="t" l="l"/>
              <a:pathLst>
                <a:path h="822960" w="810260">
                  <a:moveTo>
                    <a:pt x="405130" y="0"/>
                  </a:moveTo>
                  <a:lnTo>
                    <a:pt x="359410" y="151130"/>
                  </a:lnTo>
                  <a:lnTo>
                    <a:pt x="264160" y="25400"/>
                  </a:lnTo>
                  <a:lnTo>
                    <a:pt x="273050" y="181610"/>
                  </a:lnTo>
                  <a:lnTo>
                    <a:pt x="140970" y="96520"/>
                  </a:lnTo>
                  <a:lnTo>
                    <a:pt x="201930" y="241300"/>
                  </a:lnTo>
                  <a:lnTo>
                    <a:pt x="49530" y="205740"/>
                  </a:lnTo>
                  <a:lnTo>
                    <a:pt x="156210" y="321310"/>
                  </a:lnTo>
                  <a:lnTo>
                    <a:pt x="0" y="340360"/>
                  </a:lnTo>
                  <a:lnTo>
                    <a:pt x="140970" y="411480"/>
                  </a:lnTo>
                  <a:lnTo>
                    <a:pt x="0" y="482600"/>
                  </a:lnTo>
                  <a:lnTo>
                    <a:pt x="156210" y="501650"/>
                  </a:lnTo>
                  <a:lnTo>
                    <a:pt x="49530" y="617220"/>
                  </a:lnTo>
                  <a:lnTo>
                    <a:pt x="201930" y="581660"/>
                  </a:lnTo>
                  <a:lnTo>
                    <a:pt x="140970" y="726440"/>
                  </a:lnTo>
                  <a:lnTo>
                    <a:pt x="273050" y="640080"/>
                  </a:lnTo>
                  <a:lnTo>
                    <a:pt x="264160" y="797560"/>
                  </a:lnTo>
                  <a:lnTo>
                    <a:pt x="359410" y="671830"/>
                  </a:lnTo>
                  <a:lnTo>
                    <a:pt x="405130" y="822960"/>
                  </a:lnTo>
                  <a:lnTo>
                    <a:pt x="450850" y="671830"/>
                  </a:lnTo>
                  <a:lnTo>
                    <a:pt x="546100" y="797560"/>
                  </a:lnTo>
                  <a:lnTo>
                    <a:pt x="537210" y="640080"/>
                  </a:lnTo>
                  <a:lnTo>
                    <a:pt x="669290" y="726440"/>
                  </a:lnTo>
                  <a:lnTo>
                    <a:pt x="608330" y="581660"/>
                  </a:lnTo>
                  <a:lnTo>
                    <a:pt x="760730" y="617220"/>
                  </a:lnTo>
                  <a:lnTo>
                    <a:pt x="654050" y="501650"/>
                  </a:lnTo>
                  <a:lnTo>
                    <a:pt x="810260" y="482600"/>
                  </a:lnTo>
                  <a:lnTo>
                    <a:pt x="669290" y="411480"/>
                  </a:lnTo>
                  <a:lnTo>
                    <a:pt x="810260" y="340360"/>
                  </a:lnTo>
                  <a:lnTo>
                    <a:pt x="654050" y="321310"/>
                  </a:lnTo>
                  <a:lnTo>
                    <a:pt x="760730" y="205740"/>
                  </a:lnTo>
                  <a:lnTo>
                    <a:pt x="608330" y="241300"/>
                  </a:lnTo>
                  <a:lnTo>
                    <a:pt x="669290" y="96520"/>
                  </a:lnTo>
                  <a:lnTo>
                    <a:pt x="537210" y="181610"/>
                  </a:lnTo>
                  <a:lnTo>
                    <a:pt x="546100" y="25400"/>
                  </a:lnTo>
                  <a:lnTo>
                    <a:pt x="450850" y="151130"/>
                  </a:lnTo>
                  <a:close/>
                </a:path>
              </a:pathLst>
            </a:custGeom>
            <a:solidFill>
              <a:srgbClr val="00897B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141746" y="112576"/>
              <a:ext cx="529308" cy="55936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rtl="true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2321927" y="2700195"/>
            <a:ext cx="5579820" cy="5956458"/>
          </a:xfrm>
          <a:custGeom>
            <a:avLst/>
            <a:gdLst/>
            <a:ahLst/>
            <a:cxnLst/>
            <a:rect r="r" b="b" t="t" l="l"/>
            <a:pathLst>
              <a:path h="5956458" w="5579820">
                <a:moveTo>
                  <a:pt x="0" y="0"/>
                </a:moveTo>
                <a:lnTo>
                  <a:pt x="5579820" y="0"/>
                </a:lnTo>
                <a:lnTo>
                  <a:pt x="5579820" y="5956457"/>
                </a:lnTo>
                <a:lnTo>
                  <a:pt x="0" y="595645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6456560" y="2463296"/>
            <a:ext cx="5241625" cy="6193356"/>
          </a:xfrm>
          <a:custGeom>
            <a:avLst/>
            <a:gdLst/>
            <a:ahLst/>
            <a:cxnLst/>
            <a:rect r="r" b="b" t="t" l="l"/>
            <a:pathLst>
              <a:path h="6193356" w="5241625">
                <a:moveTo>
                  <a:pt x="0" y="0"/>
                </a:moveTo>
                <a:lnTo>
                  <a:pt x="5241625" y="0"/>
                </a:lnTo>
                <a:lnTo>
                  <a:pt x="5241625" y="6193356"/>
                </a:lnTo>
                <a:lnTo>
                  <a:pt x="0" y="619335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551989" y="666750"/>
            <a:ext cx="4280828" cy="7989902"/>
          </a:xfrm>
          <a:custGeom>
            <a:avLst/>
            <a:gdLst/>
            <a:ahLst/>
            <a:cxnLst/>
            <a:rect r="r" b="b" t="t" l="l"/>
            <a:pathLst>
              <a:path h="7989902" w="4280828">
                <a:moveTo>
                  <a:pt x="0" y="0"/>
                </a:moveTo>
                <a:lnTo>
                  <a:pt x="4280829" y="0"/>
                </a:lnTo>
                <a:lnTo>
                  <a:pt x="4280829" y="7989902"/>
                </a:lnTo>
                <a:lnTo>
                  <a:pt x="0" y="798990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7615783" y="704850"/>
            <a:ext cx="10005467" cy="9215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rtl="true" marL="0" indent="0" lvl="0">
              <a:lnSpc>
                <a:spcPts val="7086"/>
              </a:lnSpc>
              <a:spcBef>
                <a:spcPct val="0"/>
              </a:spcBef>
            </a:pPr>
            <a:r>
              <a:rPr lang="he-IL" sz="6326">
                <a:solidFill>
                  <a:srgbClr val="00897B"/>
                </a:solidFill>
                <a:latin typeface="Radley"/>
                <a:ea typeface="Radley"/>
                <a:cs typeface="Radley"/>
                <a:sym typeface="Radley"/>
                <a:rtl val="true"/>
              </a:rPr>
              <a:t>דוגמת שיחה עם המטופל ב׳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7858125" cy="10287000"/>
            <a:chOff x="0" y="0"/>
            <a:chExt cx="1217429" cy="159372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217429" cy="1593725"/>
            </a:xfrm>
            <a:custGeom>
              <a:avLst/>
              <a:gdLst/>
              <a:ahLst/>
              <a:cxnLst/>
              <a:rect r="r" b="b" t="t" l="l"/>
              <a:pathLst>
                <a:path h="1593725" w="1217429">
                  <a:moveTo>
                    <a:pt x="1217429" y="0"/>
                  </a:moveTo>
                  <a:lnTo>
                    <a:pt x="0" y="0"/>
                  </a:lnTo>
                  <a:lnTo>
                    <a:pt x="0" y="1593725"/>
                  </a:lnTo>
                  <a:lnTo>
                    <a:pt x="1217429" y="1593725"/>
                  </a:lnTo>
                  <a:close/>
                </a:path>
              </a:pathLst>
            </a:custGeom>
            <a:blipFill>
              <a:blip r:embed="rId2"/>
              <a:stretch>
                <a:fillRect l="0" t="-255" r="0" b="-255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7515746" y="619125"/>
            <a:ext cx="10105504" cy="8610600"/>
            <a:chOff x="0" y="0"/>
            <a:chExt cx="13474005" cy="11480800"/>
          </a:xfrm>
        </p:grpSpPr>
        <p:sp>
          <p:nvSpPr>
            <p:cNvPr name="TextBox 5" id="5"/>
            <p:cNvSpPr txBox="true"/>
            <p:nvPr/>
          </p:nvSpPr>
          <p:spPr>
            <a:xfrm rot="0">
              <a:off x="3832852" y="57150"/>
              <a:ext cx="9614826" cy="135847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r" rtl="true" marL="0" indent="0" lvl="0">
                <a:lnSpc>
                  <a:spcPts val="7840"/>
                </a:lnSpc>
                <a:spcBef>
                  <a:spcPct val="0"/>
                </a:spcBef>
              </a:pPr>
              <a:r>
                <a:rPr lang="he-IL" sz="7000" i="true">
                  <a:solidFill>
                    <a:srgbClr val="00897B"/>
                  </a:solidFill>
                  <a:latin typeface="Radley Italics"/>
                  <a:ea typeface="Radley Italics"/>
                  <a:cs typeface="Radley Italics"/>
                  <a:sym typeface="Radley Italics"/>
                  <a:rtl val="true"/>
                </a:rPr>
                <a:t>סיכום</a:t>
              </a:r>
            </a:p>
          </p:txBody>
        </p:sp>
        <p:sp>
          <p:nvSpPr>
            <p:cNvPr name="TextBox 6" id="6"/>
            <p:cNvSpPr txBox="true"/>
            <p:nvPr/>
          </p:nvSpPr>
          <p:spPr>
            <a:xfrm rot="0">
              <a:off x="3832852" y="2387600"/>
              <a:ext cx="9614826" cy="6985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r" rtl="true" marL="0" indent="0" lvl="0">
                <a:lnSpc>
                  <a:spcPts val="4199"/>
                </a:lnSpc>
                <a:spcBef>
                  <a:spcPct val="0"/>
                </a:spcBef>
              </a:pPr>
              <a:r>
                <a:rPr lang="he-IL" sz="3499" u="none">
                  <a:solidFill>
                    <a:srgbClr val="00897B"/>
                  </a:solidFill>
                  <a:latin typeface="Radley"/>
                  <a:ea typeface="Radley"/>
                  <a:cs typeface="Radley"/>
                  <a:sym typeface="Radley"/>
                  <a:rtl val="true"/>
                </a:rPr>
                <a:t>תהליך המחקר והיישומים</a:t>
              </a:r>
            </a:p>
          </p:txBody>
        </p:sp>
        <p:sp>
          <p:nvSpPr>
            <p:cNvPr name="AutoShape 7" id="7"/>
            <p:cNvSpPr/>
            <p:nvPr/>
          </p:nvSpPr>
          <p:spPr>
            <a:xfrm>
              <a:off x="3859178" y="1901614"/>
              <a:ext cx="9614826" cy="0"/>
            </a:xfrm>
            <a:prstGeom prst="line">
              <a:avLst/>
            </a:prstGeom>
            <a:ln cap="flat" w="25400">
              <a:solidFill>
                <a:srgbClr val="00897B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TextBox 8" id="8"/>
            <p:cNvSpPr txBox="true"/>
            <p:nvPr/>
          </p:nvSpPr>
          <p:spPr>
            <a:xfrm rot="0">
              <a:off x="0" y="3721100"/>
              <a:ext cx="13447678" cy="77597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r" rtl="true" marL="0" indent="0" lvl="0">
                <a:lnSpc>
                  <a:spcPts val="2400"/>
                </a:lnSpc>
              </a:pPr>
              <a:r>
                <a:rPr lang="he-IL" sz="2000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במסגרת פרויקט זה, בחרתי להתמקד במכבי שירותי בריאות - אחת מקופות </a:t>
              </a:r>
              <a:r>
                <a:rPr lang="he-IL" sz="2000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ה</a:t>
              </a:r>
              <a:r>
                <a:rPr lang="he-IL" sz="2000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חול</a:t>
              </a:r>
              <a:r>
                <a:rPr lang="he-IL" sz="2000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י</a:t>
              </a:r>
              <a:r>
                <a:rPr lang="he-IL" sz="2000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ם הגדולות ב</a:t>
              </a:r>
              <a:r>
                <a:rPr lang="he-IL" sz="2000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יש</a:t>
              </a:r>
              <a:r>
                <a:rPr lang="he-IL" sz="2000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ראל עם מילי</a:t>
              </a:r>
              <a:r>
                <a:rPr lang="he-IL" sz="2000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ו</a:t>
              </a:r>
              <a:r>
                <a:rPr lang="he-IL" sz="2000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ני </a:t>
              </a:r>
              <a:r>
                <a:rPr lang="he-IL" sz="2000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מ</a:t>
              </a:r>
              <a:r>
                <a:rPr lang="he-IL" sz="2000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בוטח</a:t>
              </a:r>
              <a:r>
                <a:rPr lang="he-IL" sz="2000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ים</a:t>
              </a:r>
              <a:r>
                <a:rPr lang="ar-EG" sz="2000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.</a:t>
              </a:r>
            </a:p>
            <a:p>
              <a:pPr algn="r" rtl="true" marL="0" indent="0" lvl="0">
                <a:lnSpc>
                  <a:spcPts val="2400"/>
                </a:lnSpc>
              </a:pPr>
            </a:p>
            <a:p>
              <a:pPr algn="r" rtl="true" marL="0" indent="0" lvl="0">
                <a:lnSpc>
                  <a:spcPts val="2400"/>
                </a:lnSpc>
              </a:pPr>
              <a:r>
                <a:rPr lang="he-IL" sz="2000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תהליך</a:t>
              </a:r>
              <a:r>
                <a:rPr lang="he-IL" sz="2000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 ה</a:t>
              </a:r>
              <a:r>
                <a:rPr lang="he-IL" sz="2000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מ</a:t>
              </a:r>
              <a:r>
                <a:rPr lang="he-IL" sz="2000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ח</a:t>
              </a:r>
              <a:r>
                <a:rPr lang="he-IL" sz="2000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קר כלל מספר </a:t>
              </a:r>
              <a:r>
                <a:rPr lang="he-IL" sz="2000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ש</a:t>
              </a:r>
              <a:r>
                <a:rPr lang="he-IL" sz="2000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לבים:</a:t>
              </a:r>
            </a:p>
            <a:p>
              <a:pPr algn="r" rtl="true" marL="0" indent="0" lvl="0">
                <a:lnSpc>
                  <a:spcPts val="2400"/>
                </a:lnSpc>
              </a:pPr>
            </a:p>
            <a:p>
              <a:pPr algn="r" rtl="true" marL="431801" indent="-215900" lvl="1">
                <a:lnSpc>
                  <a:spcPts val="2400"/>
                </a:lnSpc>
                <a:buFont typeface="Arial"/>
                <a:buChar char="•"/>
              </a:pPr>
              <a:r>
                <a:rPr lang="he-IL" sz="2000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ראשית, זיהיתי את </a:t>
              </a:r>
              <a:r>
                <a:rPr lang="he-IL" sz="2000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נ</a:t>
              </a:r>
              <a:r>
                <a:rPr lang="he-IL" sz="2000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קודות הכאב המרכז</a:t>
              </a:r>
              <a:r>
                <a:rPr lang="he-IL" sz="2000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י</a:t>
              </a:r>
              <a:r>
                <a:rPr lang="he-IL" sz="2000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ות של מבוטחים: זמני המתנה ארוכים, קושי בהבנת תוצאות בדיקות, והצורך לעבור דרך רופא המשפחה לכל הפניה.</a:t>
              </a:r>
            </a:p>
            <a:p>
              <a:pPr algn="r" rtl="true" marL="0" indent="0" lvl="0">
                <a:lnSpc>
                  <a:spcPts val="2400"/>
                </a:lnSpc>
              </a:pPr>
            </a:p>
            <a:p>
              <a:pPr algn="r" rtl="true" marL="431801" indent="-215900" lvl="1">
                <a:lnSpc>
                  <a:spcPts val="2400"/>
                </a:lnSpc>
                <a:buFont typeface="Arial"/>
                <a:buChar char="•"/>
              </a:pPr>
              <a:r>
                <a:rPr lang="he-IL" sz="2000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שנית, חקרתי פתרונות </a:t>
              </a:r>
              <a:r>
                <a:rPr lang="en-US" sz="2000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</a:rPr>
                <a:t>AI</a:t>
              </a:r>
              <a:r>
                <a:rPr lang="he-IL" sz="2000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 קיימים בתחום הבריאות ובחנתי כיצד ניתן ליישם אותם בהקשר הישראלי.</a:t>
              </a:r>
            </a:p>
            <a:p>
              <a:pPr algn="r" rtl="true" marL="0" indent="0" lvl="0">
                <a:lnSpc>
                  <a:spcPts val="2400"/>
                </a:lnSpc>
              </a:pPr>
            </a:p>
            <a:p>
              <a:pPr algn="r" rtl="true" marL="431801" indent="-215900" lvl="1">
                <a:lnSpc>
                  <a:spcPts val="2400"/>
                </a:lnSpc>
                <a:buFont typeface="Arial"/>
                <a:buChar char="•"/>
              </a:pPr>
              <a:r>
                <a:rPr lang="he-IL" sz="2000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שלישית, ערכתי השוואה בין מודלי </a:t>
              </a:r>
              <a:r>
                <a:rPr lang="en-US" sz="2000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</a:rPr>
                <a:t>LLM</a:t>
              </a:r>
              <a:r>
                <a:rPr lang="he-IL" sz="2000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 של </a:t>
              </a:r>
              <a:r>
                <a:rPr lang="en-US" sz="2000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</a:rPr>
                <a:t>OpenAI</a:t>
              </a:r>
              <a:r>
                <a:rPr lang="he-IL" sz="2000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 תוך התחשבות בדיוק, מהירות ועלות. הגעתי למסקנה ש-</a:t>
              </a:r>
              <a:r>
                <a:rPr lang="en-US" sz="2000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</a:rPr>
                <a:t>GPT-4o</a:t>
              </a:r>
              <a:r>
                <a:rPr lang="he-IL" sz="2000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 מתאים ביותר ליישומים רפואיים בשל הדיוק הגבוה הנדרש.</a:t>
              </a:r>
            </a:p>
            <a:p>
              <a:pPr algn="r" rtl="true" marL="0" indent="0" lvl="0">
                <a:lnSpc>
                  <a:spcPts val="2400"/>
                </a:lnSpc>
              </a:pPr>
            </a:p>
            <a:p>
              <a:pPr algn="r" rtl="true" marL="0" indent="0" lvl="0">
                <a:lnSpc>
                  <a:spcPts val="2400"/>
                </a:lnSpc>
              </a:pPr>
              <a:r>
                <a:rPr lang="he-IL" sz="2000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לבסוף, פיתחתי פרומפט לבוט מיון חירום ובדקתי אותו ב-</a:t>
              </a:r>
              <a:r>
                <a:rPr lang="en-US" sz="2000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</a:rPr>
                <a:t>Google AI Studio</a:t>
              </a:r>
              <a:r>
                <a:rPr lang="he-IL" sz="2000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. הבוט הדגים יכולת לנהל שיחה אמפתית, לאסוף מידע רלוונטי ולספק הנחיות מותאמות לרמת הדחיפות.</a:t>
              </a:r>
            </a:p>
            <a:p>
              <a:pPr algn="r" rtl="true" marL="0" indent="0" lvl="0">
                <a:lnSpc>
                  <a:spcPts val="2400"/>
                </a:lnSpc>
              </a:pPr>
            </a:p>
            <a:p>
              <a:pPr algn="r" rtl="true" marL="0" indent="0" lvl="0">
                <a:lnSpc>
                  <a:spcPts val="2400"/>
                </a:lnSpc>
              </a:pPr>
              <a:r>
                <a:rPr lang="he-IL" sz="2000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המחקר הראה שיישומי </a:t>
              </a:r>
              <a:r>
                <a:rPr lang="en-US" sz="2000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</a:rPr>
                <a:t>AI</a:t>
              </a:r>
              <a:r>
                <a:rPr lang="he-IL" sz="2000">
                  <a:solidFill>
                    <a:srgbClr val="333333"/>
                  </a:solidFill>
                  <a:latin typeface="Carlito"/>
                  <a:ea typeface="Carlito"/>
                  <a:cs typeface="Carlito"/>
                  <a:sym typeface="Carlito"/>
                  <a:rtl val="true"/>
                </a:rPr>
                <a:t> יכולים לשפר משמעותית את חוויית המטופל, לחסוך זמן ומשאבים, ואף להציל חיים במקרי חירום.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5449520" y="9184102"/>
            <a:ext cx="2171730" cy="2205796"/>
            <a:chOff x="0" y="0"/>
            <a:chExt cx="812800" cy="8255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1270" y="0"/>
              <a:ext cx="810260" cy="822960"/>
            </a:xfrm>
            <a:custGeom>
              <a:avLst/>
              <a:gdLst/>
              <a:ahLst/>
              <a:cxnLst/>
              <a:rect r="r" b="b" t="t" l="l"/>
              <a:pathLst>
                <a:path h="822960" w="810260">
                  <a:moveTo>
                    <a:pt x="405130" y="0"/>
                  </a:moveTo>
                  <a:lnTo>
                    <a:pt x="359410" y="151130"/>
                  </a:lnTo>
                  <a:lnTo>
                    <a:pt x="264160" y="25400"/>
                  </a:lnTo>
                  <a:lnTo>
                    <a:pt x="273050" y="181610"/>
                  </a:lnTo>
                  <a:lnTo>
                    <a:pt x="140970" y="96520"/>
                  </a:lnTo>
                  <a:lnTo>
                    <a:pt x="201930" y="241300"/>
                  </a:lnTo>
                  <a:lnTo>
                    <a:pt x="49530" y="205740"/>
                  </a:lnTo>
                  <a:lnTo>
                    <a:pt x="156210" y="321310"/>
                  </a:lnTo>
                  <a:lnTo>
                    <a:pt x="0" y="340360"/>
                  </a:lnTo>
                  <a:lnTo>
                    <a:pt x="140970" y="411480"/>
                  </a:lnTo>
                  <a:lnTo>
                    <a:pt x="0" y="482600"/>
                  </a:lnTo>
                  <a:lnTo>
                    <a:pt x="156210" y="501650"/>
                  </a:lnTo>
                  <a:lnTo>
                    <a:pt x="49530" y="617220"/>
                  </a:lnTo>
                  <a:lnTo>
                    <a:pt x="201930" y="581660"/>
                  </a:lnTo>
                  <a:lnTo>
                    <a:pt x="140970" y="726440"/>
                  </a:lnTo>
                  <a:lnTo>
                    <a:pt x="273050" y="640080"/>
                  </a:lnTo>
                  <a:lnTo>
                    <a:pt x="264160" y="797560"/>
                  </a:lnTo>
                  <a:lnTo>
                    <a:pt x="359410" y="671830"/>
                  </a:lnTo>
                  <a:lnTo>
                    <a:pt x="405130" y="822960"/>
                  </a:lnTo>
                  <a:lnTo>
                    <a:pt x="450850" y="671830"/>
                  </a:lnTo>
                  <a:lnTo>
                    <a:pt x="546100" y="797560"/>
                  </a:lnTo>
                  <a:lnTo>
                    <a:pt x="537210" y="640080"/>
                  </a:lnTo>
                  <a:lnTo>
                    <a:pt x="669290" y="726440"/>
                  </a:lnTo>
                  <a:lnTo>
                    <a:pt x="608330" y="581660"/>
                  </a:lnTo>
                  <a:lnTo>
                    <a:pt x="760730" y="617220"/>
                  </a:lnTo>
                  <a:lnTo>
                    <a:pt x="654050" y="501650"/>
                  </a:lnTo>
                  <a:lnTo>
                    <a:pt x="810260" y="482600"/>
                  </a:lnTo>
                  <a:lnTo>
                    <a:pt x="669290" y="411480"/>
                  </a:lnTo>
                  <a:lnTo>
                    <a:pt x="810260" y="340360"/>
                  </a:lnTo>
                  <a:lnTo>
                    <a:pt x="654050" y="321310"/>
                  </a:lnTo>
                  <a:lnTo>
                    <a:pt x="760730" y="205740"/>
                  </a:lnTo>
                  <a:lnTo>
                    <a:pt x="608330" y="241300"/>
                  </a:lnTo>
                  <a:lnTo>
                    <a:pt x="669290" y="96520"/>
                  </a:lnTo>
                  <a:lnTo>
                    <a:pt x="537210" y="181610"/>
                  </a:lnTo>
                  <a:lnTo>
                    <a:pt x="546100" y="25400"/>
                  </a:lnTo>
                  <a:lnTo>
                    <a:pt x="450850" y="151130"/>
                  </a:lnTo>
                  <a:close/>
                </a:path>
              </a:pathLst>
            </a:custGeom>
            <a:solidFill>
              <a:srgbClr val="00897B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141746" y="112576"/>
              <a:ext cx="529308" cy="55936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rtl="true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description>Presentation - יישומי בינה מלאכותית</dc:description>
  <dc:identifier>DAG9Wxh4vkg</dc:identifier>
  <dcterms:modified xsi:type="dcterms:W3CDTF">2011-08-01T06:04:30Z</dcterms:modified>
  <cp:revision>1</cp:revision>
  <dc:title>Presentation - יישומי בינה מלאכותית</dc:title>
</cp:coreProperties>
</file>