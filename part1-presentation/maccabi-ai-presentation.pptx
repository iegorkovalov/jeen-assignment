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Radley" charset="1" panose="00000500000000000000"/>
      <p:regular r:id="rId16"/>
    </p:embeddedFont>
    <p:embeddedFont>
      <p:font typeface="Carlito" charset="1" panose="020F0502020204030204"/>
      <p:regular r:id="rId17"/>
    </p:embeddedFont>
    <p:embeddedFont>
      <p:font typeface="Radley Italics" charset="1" panose="00000500000000000000"/>
      <p:regular r:id="rId18"/>
    </p:embeddedFont>
    <p:embeddedFont>
      <p:font typeface="Carlito Bold" charset="1" panose="020F050202020403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Relationship Id="rId4" Target="../media/image9.jpeg" Type="http://schemas.openxmlformats.org/officeDocument/2006/relationships/image"/><Relationship Id="rId5" Target="../media/image1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81575" y="3352800"/>
            <a:ext cx="8324850" cy="6934200"/>
            <a:chOff x="0" y="0"/>
            <a:chExt cx="1289737" cy="10742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9737" cy="1074289"/>
            </a:xfrm>
            <a:custGeom>
              <a:avLst/>
              <a:gdLst/>
              <a:ahLst/>
              <a:cxnLst/>
              <a:rect r="r" b="b" t="t" l="l"/>
              <a:pathLst>
                <a:path h="1074289" w="1289737">
                  <a:moveTo>
                    <a:pt x="1289737" y="0"/>
                  </a:moveTo>
                  <a:lnTo>
                    <a:pt x="0" y="0"/>
                  </a:lnTo>
                  <a:lnTo>
                    <a:pt x="0" y="1074289"/>
                  </a:lnTo>
                  <a:lnTo>
                    <a:pt x="1289737" y="1074289"/>
                  </a:lnTo>
                  <a:close/>
                </a:path>
              </a:pathLst>
            </a:custGeom>
            <a:blipFill>
              <a:blip r:embed="rId2"/>
              <a:stretch>
                <a:fillRect l="-329" t="0" r="-32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16954500" cy="2172955"/>
            <a:chOff x="0" y="0"/>
            <a:chExt cx="22606000" cy="2897274"/>
          </a:xfrm>
        </p:grpSpPr>
        <p:sp>
          <p:nvSpPr>
            <p:cNvPr name="AutoShape 5" id="5"/>
            <p:cNvSpPr/>
            <p:nvPr/>
          </p:nvSpPr>
          <p:spPr>
            <a:xfrm>
              <a:off x="0" y="2884574"/>
              <a:ext cx="22606000" cy="0"/>
            </a:xfrm>
            <a:prstGeom prst="line">
              <a:avLst/>
            </a:prstGeom>
            <a:ln cap="flat" w="25400">
              <a:solidFill>
                <a:srgbClr val="00897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266700"/>
              <a:ext cx="22606000" cy="26305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 marL="0" indent="0" lvl="0">
                <a:lnSpc>
                  <a:spcPts val="14299"/>
                </a:lnSpc>
              </a:pPr>
              <a:r>
                <a:rPr lang="he-IL" sz="14299" spc="-285" u="none">
                  <a:solidFill>
                    <a:srgbClr val="00897B"/>
                  </a:solidFill>
                  <a:latin typeface="Radley"/>
                  <a:ea typeface="Radley"/>
                  <a:cs typeface="Radley"/>
                  <a:sym typeface="Radley"/>
                  <a:rtl val="true"/>
                </a:rPr>
                <a:t>יישומי בינה מלאכותית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3611225" y="9276080"/>
            <a:ext cx="4010025" cy="344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2299"/>
              </a:lnSpc>
            </a:pPr>
            <a:r>
              <a:rPr lang="he-IL" sz="2299">
                <a:solidFill>
                  <a:srgbClr val="00897B"/>
                </a:solidFill>
                <a:latin typeface="Carlito"/>
                <a:ea typeface="Carlito"/>
                <a:cs typeface="Carlito"/>
                <a:sym typeface="Carlito"/>
                <a:rtl val="true"/>
              </a:rPr>
              <a:t>א</a:t>
            </a:r>
            <a:r>
              <a:rPr lang="he-IL" sz="2299">
                <a:solidFill>
                  <a:srgbClr val="00897B"/>
                </a:solidFill>
                <a:latin typeface="Carlito"/>
                <a:ea typeface="Carlito"/>
                <a:cs typeface="Carlito"/>
                <a:sym typeface="Carlito"/>
                <a:rtl val="true"/>
              </a:rPr>
              <a:t>יגור קובלוב, ינואר </a:t>
            </a:r>
            <a:r>
              <a:rPr lang="en-US" sz="2299">
                <a:solidFill>
                  <a:srgbClr val="00897B"/>
                </a:solidFill>
                <a:latin typeface="Carlito"/>
                <a:ea typeface="Carlito"/>
                <a:cs typeface="Carlito"/>
                <a:sym typeface="Carlito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03948" y="5613672"/>
            <a:ext cx="4414264" cy="3942430"/>
            <a:chOff x="0" y="0"/>
            <a:chExt cx="1391532" cy="12427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532" cy="1242794"/>
            </a:xfrm>
            <a:custGeom>
              <a:avLst/>
              <a:gdLst/>
              <a:ahLst/>
              <a:cxnLst/>
              <a:rect r="r" b="b" t="t" l="l"/>
              <a:pathLst>
                <a:path h="1242794" w="1391532">
                  <a:moveTo>
                    <a:pt x="1391532" y="0"/>
                  </a:moveTo>
                  <a:lnTo>
                    <a:pt x="0" y="0"/>
                  </a:lnTo>
                  <a:lnTo>
                    <a:pt x="0" y="1242794"/>
                  </a:lnTo>
                  <a:lnTo>
                    <a:pt x="1391532" y="1242794"/>
                  </a:lnTo>
                  <a:close/>
                </a:path>
              </a:pathLst>
            </a:custGeom>
            <a:blipFill>
              <a:blip r:embed="rId2"/>
              <a:stretch>
                <a:fillRect l="-104" t="0" r="-10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688315" y="5613672"/>
            <a:ext cx="4414264" cy="3942430"/>
            <a:chOff x="0" y="0"/>
            <a:chExt cx="1391532" cy="12427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91532" cy="1242794"/>
            </a:xfrm>
            <a:custGeom>
              <a:avLst/>
              <a:gdLst/>
              <a:ahLst/>
              <a:cxnLst/>
              <a:rect r="r" b="b" t="t" l="l"/>
              <a:pathLst>
                <a:path h="1242794" w="1391532">
                  <a:moveTo>
                    <a:pt x="1391532" y="0"/>
                  </a:moveTo>
                  <a:lnTo>
                    <a:pt x="0" y="0"/>
                  </a:lnTo>
                  <a:lnTo>
                    <a:pt x="0" y="1242794"/>
                  </a:lnTo>
                  <a:lnTo>
                    <a:pt x="1391532" y="1242794"/>
                  </a:lnTo>
                  <a:close/>
                </a:path>
              </a:pathLst>
            </a:custGeom>
            <a:blipFill>
              <a:blip r:embed="rId3"/>
              <a:stretch>
                <a:fillRect l="-104" t="0" r="-104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18109" y="5613672"/>
            <a:ext cx="4414264" cy="3942430"/>
            <a:chOff x="0" y="0"/>
            <a:chExt cx="1391532" cy="12427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1532" cy="1242794"/>
            </a:xfrm>
            <a:custGeom>
              <a:avLst/>
              <a:gdLst/>
              <a:ahLst/>
              <a:cxnLst/>
              <a:rect r="r" b="b" t="t" l="l"/>
              <a:pathLst>
                <a:path h="1242794" w="1391532">
                  <a:moveTo>
                    <a:pt x="1391532" y="0"/>
                  </a:moveTo>
                  <a:lnTo>
                    <a:pt x="0" y="0"/>
                  </a:lnTo>
                  <a:lnTo>
                    <a:pt x="0" y="1242794"/>
                  </a:lnTo>
                  <a:lnTo>
                    <a:pt x="1391532" y="1242794"/>
                  </a:lnTo>
                  <a:close/>
                </a:path>
              </a:pathLst>
            </a:custGeom>
            <a:blipFill>
              <a:blip r:embed="rId4"/>
              <a:stretch>
                <a:fillRect l="-104" t="0" r="-104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371975" y="723900"/>
            <a:ext cx="13249275" cy="100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7840"/>
              </a:lnSpc>
              <a:spcBef>
                <a:spcPct val="0"/>
              </a:spcBef>
            </a:pPr>
            <a:r>
              <a:rPr lang="he-IL" sz="7000">
                <a:solidFill>
                  <a:srgbClr val="00897B"/>
                </a:solidFill>
                <a:latin typeface="Radley"/>
                <a:ea typeface="Radley"/>
                <a:cs typeface="Radley"/>
                <a:sym typeface="Radley"/>
                <a:rtl val="true"/>
              </a:rPr>
              <a:t>יישומים חכמים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120092" y="2257562"/>
            <a:ext cx="4982486" cy="2759710"/>
            <a:chOff x="0" y="0"/>
            <a:chExt cx="6643315" cy="3679614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6643315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rtl="true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he-IL" sz="2999">
                  <a:solidFill>
                    <a:srgbClr val="00897B"/>
                  </a:solidFill>
                  <a:latin typeface="Radley"/>
                  <a:ea typeface="Radley"/>
                  <a:cs typeface="Radley"/>
                  <a:sym typeface="Radley"/>
                  <a:rtl val="true"/>
                </a:rPr>
                <a:t>ניווט הפניות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842222"/>
              <a:ext cx="6643315" cy="28373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rtl="true" marL="431799" indent="-215899" lvl="1">
                <a:lnSpc>
                  <a:spcPts val="2799"/>
                </a:lnSpc>
                <a:buFont typeface="Arial"/>
                <a:buChar char="•"/>
              </a:pPr>
              <a:r>
                <a:rPr lang="en-US" sz="1999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</a:rPr>
                <a:t>AI</a:t>
              </a:r>
              <a:r>
                <a:rPr lang="he-IL" sz="1999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 שמנתח תסמינים ומפנה ישירות למומחה המתאים - בלי לעבור דרך רופא המשפחה.</a:t>
              </a:r>
            </a:p>
            <a:p>
              <a:pPr algn="r" rtl="true" marL="431799" indent="-215899" lvl="1">
                <a:lnSpc>
                  <a:spcPts val="2799"/>
                </a:lnSpc>
                <a:buFont typeface="Arial"/>
                <a:buChar char="•"/>
              </a:pPr>
              <a:r>
                <a:rPr lang="he-IL" sz="1999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בודק זמינות תורים בזמן אמת וקובע תור אוטומטית.</a:t>
              </a:r>
            </a:p>
            <a:p>
              <a:pPr algn="r" rtl="true" marL="431799" indent="-215899" lvl="1">
                <a:lnSpc>
                  <a:spcPts val="2799"/>
                </a:lnSpc>
                <a:buFont typeface="Arial"/>
                <a:buChar char="•"/>
              </a:pPr>
              <a:r>
                <a:rPr lang="he-IL" sz="1999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חוסך זמן למטופלים ומפחית עומס על רופאי המשפחה.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571239" y="2257562"/>
            <a:ext cx="4946973" cy="2407285"/>
            <a:chOff x="0" y="0"/>
            <a:chExt cx="6595963" cy="3209714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842222"/>
              <a:ext cx="6595963" cy="23674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rtl="true" marL="431799" indent="-215899" lvl="1">
                <a:lnSpc>
                  <a:spcPts val="2799"/>
                </a:lnSpc>
                <a:buFont typeface="Arial"/>
                <a:buChar char="•"/>
              </a:pPr>
              <a:r>
                <a:rPr lang="en-US" sz="1999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</a:rPr>
                <a:t>AI</a:t>
              </a:r>
              <a:r>
                <a:rPr lang="he-IL" sz="1999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 שמתרגם תוצאות בדיקות מעבדה משפה רפואית מקצועית לעברית פשוטה וברורה.</a:t>
              </a:r>
            </a:p>
            <a:p>
              <a:pPr algn="r" rtl="true" marL="431799" indent="-215899" lvl="1">
                <a:lnSpc>
                  <a:spcPts val="2799"/>
                </a:lnSpc>
                <a:buFont typeface="Arial"/>
                <a:buChar char="•"/>
              </a:pPr>
              <a:r>
                <a:rPr lang="he-IL" sz="1999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מסביר מה תקין, מה חריג, ומה דורש תשומת לב מיידית.</a:t>
              </a:r>
            </a:p>
            <a:p>
              <a:pPr algn="r" rtl="true" marL="431799" indent="-215899" lvl="1">
                <a:lnSpc>
                  <a:spcPts val="2799"/>
                </a:lnSpc>
                <a:buFont typeface="Arial"/>
                <a:buChar char="•"/>
              </a:pPr>
              <a:r>
                <a:rPr lang="he-IL" sz="1999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מפחית חרדה ומונע שיחות מיותרות לרופא.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47625"/>
              <a:ext cx="6595963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rtl="true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he-IL" sz="2999">
                  <a:solidFill>
                    <a:srgbClr val="00897B"/>
                  </a:solidFill>
                  <a:latin typeface="Radley"/>
                  <a:ea typeface="Radley"/>
                  <a:cs typeface="Radley"/>
                  <a:sym typeface="Radley"/>
                  <a:rtl val="true"/>
                </a:rPr>
                <a:t>פענוח תוצאות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72317" y="2257562"/>
            <a:ext cx="5160056" cy="2759710"/>
            <a:chOff x="0" y="0"/>
            <a:chExt cx="6880075" cy="3679614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842222"/>
              <a:ext cx="6880075" cy="28373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rtl="true" marL="431799" indent="-215899" lvl="1">
                <a:lnSpc>
                  <a:spcPts val="2799"/>
                </a:lnSpc>
                <a:buFont typeface="Arial"/>
                <a:buChar char="•"/>
              </a:pPr>
              <a:r>
                <a:rPr lang="he-IL" sz="1999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מערכת </a:t>
              </a:r>
              <a:r>
                <a:rPr lang="en-US" sz="1999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</a:rPr>
                <a:t>AI</a:t>
              </a:r>
              <a:r>
                <a:rPr lang="he-IL" sz="1999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 מבוססת </a:t>
              </a:r>
              <a:r>
                <a:rPr lang="en-US" sz="1999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</a:rPr>
                <a:t>RAG</a:t>
              </a:r>
              <a:r>
                <a:rPr lang="he-IL" sz="1999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 שמחברת מטופלים עם חוויות רפואיות דומות באופן אנונימי.</a:t>
              </a:r>
            </a:p>
            <a:p>
              <a:pPr algn="r" rtl="true" marL="431799" indent="-215899" lvl="1">
                <a:lnSpc>
                  <a:spcPts val="2799"/>
                </a:lnSpc>
                <a:buFont typeface="Arial"/>
                <a:buChar char="•"/>
              </a:pPr>
              <a:r>
                <a:rPr lang="he-IL" sz="1999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המערכת משתמשת ב-</a:t>
              </a:r>
              <a:r>
                <a:rPr lang="en-US" sz="1999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</a:rPr>
                <a:t>Embeddings</a:t>
              </a:r>
              <a:r>
                <a:rPr lang="he-IL" sz="1999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 כדי למצוא התאמות על בסיס משמעות - לא מילים זהות.</a:t>
              </a:r>
            </a:p>
            <a:p>
              <a:pPr algn="r" rtl="true" marL="431799" indent="-215899" lvl="1">
                <a:lnSpc>
                  <a:spcPts val="2799"/>
                </a:lnSpc>
                <a:buFont typeface="Arial"/>
                <a:buChar char="•"/>
              </a:pPr>
              <a:r>
                <a:rPr lang="he-IL" sz="1999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מאפשרת תמיכה רגשית וטיפים מעשיים ממי שכבר עבר את אותו המסע הרפואי.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47625"/>
              <a:ext cx="6880075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rtl="true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he-IL" sz="2999">
                  <a:solidFill>
                    <a:srgbClr val="00897B"/>
                  </a:solidFill>
                  <a:latin typeface="Radley"/>
                  <a:ea typeface="Radley"/>
                  <a:cs typeface="Radley"/>
                  <a:sym typeface="Radley"/>
                  <a:rtl val="true"/>
                </a:rPr>
                <a:t>התאמת מטופלים (</a:t>
              </a:r>
              <a:r>
                <a:rPr lang="en-US" sz="2999">
                  <a:solidFill>
                    <a:srgbClr val="00897B"/>
                  </a:solidFill>
                  <a:latin typeface="Radley"/>
                  <a:ea typeface="Radley"/>
                  <a:cs typeface="Radley"/>
                  <a:sym typeface="Radley"/>
                </a:rPr>
                <a:t>Vector DB</a:t>
              </a:r>
              <a:r>
                <a:rPr lang="ar-EG" sz="2999">
                  <a:solidFill>
                    <a:srgbClr val="00897B"/>
                  </a:solidFill>
                  <a:latin typeface="Radley"/>
                  <a:ea typeface="Radley"/>
                  <a:cs typeface="Radley"/>
                  <a:sym typeface="Radley"/>
                  <a:rtl val="true"/>
                </a:rPr>
                <a:t>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0734675" cy="6934200"/>
            <a:chOff x="0" y="0"/>
            <a:chExt cx="3111331" cy="20098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11331" cy="2009804"/>
            </a:xfrm>
            <a:custGeom>
              <a:avLst/>
              <a:gdLst/>
              <a:ahLst/>
              <a:cxnLst/>
              <a:rect r="r" b="b" t="t" l="l"/>
              <a:pathLst>
                <a:path h="2009804" w="3111331">
                  <a:moveTo>
                    <a:pt x="3111331" y="0"/>
                  </a:moveTo>
                  <a:lnTo>
                    <a:pt x="0" y="0"/>
                  </a:lnTo>
                  <a:lnTo>
                    <a:pt x="0" y="2009804"/>
                  </a:lnTo>
                  <a:lnTo>
                    <a:pt x="3111331" y="2009804"/>
                  </a:lnTo>
                  <a:close/>
                </a:path>
              </a:pathLst>
            </a:custGeom>
            <a:blipFill>
              <a:blip r:embed="rId2"/>
              <a:stretch>
                <a:fillRect l="-74" t="0" r="-74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3001625" y="723900"/>
            <a:ext cx="4619625" cy="1995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7840"/>
              </a:lnSpc>
              <a:spcBef>
                <a:spcPct val="0"/>
              </a:spcBef>
            </a:pPr>
            <a:r>
              <a:rPr lang="he-IL" sz="7000">
                <a:solidFill>
                  <a:srgbClr val="00897B"/>
                </a:solidFill>
                <a:latin typeface="Radley"/>
                <a:ea typeface="Radley"/>
                <a:cs typeface="Radley"/>
                <a:sym typeface="Radley"/>
                <a:rtl val="true"/>
              </a:rPr>
              <a:t>בוט מיון חירום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981575" y="7829550"/>
            <a:ext cx="5753100" cy="1209675"/>
            <a:chOff x="0" y="0"/>
            <a:chExt cx="7670800" cy="16129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76708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rtl="true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he-IL" sz="2799">
                  <a:solidFill>
                    <a:srgbClr val="00897B"/>
                  </a:solidFill>
                  <a:latin typeface="Radley"/>
                  <a:ea typeface="Radley"/>
                  <a:cs typeface="Radley"/>
                  <a:sym typeface="Radley"/>
                  <a:rtl val="true"/>
                </a:rPr>
                <a:t>מבוא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59460"/>
              <a:ext cx="7670800" cy="853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rtl="true" marL="0" indent="0" lvl="0">
                <a:lnSpc>
                  <a:spcPts val="2520"/>
                </a:lnSpc>
              </a:pPr>
              <a:r>
                <a:rPr lang="he-IL" sz="18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עוזר </a:t>
              </a:r>
              <a:r>
                <a:rPr lang="en-US" sz="18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</a:rPr>
                <a:t>AI</a:t>
              </a:r>
              <a:r>
                <a:rPr lang="he-IL" sz="18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 שמנחה במצבי חירום, זמין</a:t>
              </a:r>
              <a:r>
                <a:rPr lang="ar-EG" sz="18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 </a:t>
              </a:r>
              <a:r>
                <a:rPr lang="en-US" sz="18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</a:rPr>
                <a:t>24/7</a:t>
              </a:r>
              <a:r>
                <a:rPr lang="he-IL" sz="18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 למשתמשים</a:t>
              </a:r>
            </a:p>
            <a:p>
              <a:pPr algn="r" rtl="true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449520" y="9184102"/>
            <a:ext cx="2171730" cy="2205796"/>
            <a:chOff x="0" y="0"/>
            <a:chExt cx="812800" cy="825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" y="0"/>
              <a:ext cx="810260" cy="822960"/>
            </a:xfrm>
            <a:custGeom>
              <a:avLst/>
              <a:gdLst/>
              <a:ahLst/>
              <a:cxnLst/>
              <a:rect r="r" b="b" t="t" l="l"/>
              <a:pathLst>
                <a:path h="822960" w="810260">
                  <a:moveTo>
                    <a:pt x="405130" y="0"/>
                  </a:moveTo>
                  <a:lnTo>
                    <a:pt x="359410" y="151130"/>
                  </a:lnTo>
                  <a:lnTo>
                    <a:pt x="264160" y="25400"/>
                  </a:lnTo>
                  <a:lnTo>
                    <a:pt x="273050" y="181610"/>
                  </a:lnTo>
                  <a:lnTo>
                    <a:pt x="140970" y="96520"/>
                  </a:lnTo>
                  <a:lnTo>
                    <a:pt x="201930" y="241300"/>
                  </a:lnTo>
                  <a:lnTo>
                    <a:pt x="49530" y="205740"/>
                  </a:lnTo>
                  <a:lnTo>
                    <a:pt x="156210" y="321310"/>
                  </a:lnTo>
                  <a:lnTo>
                    <a:pt x="0" y="340360"/>
                  </a:lnTo>
                  <a:lnTo>
                    <a:pt x="140970" y="411480"/>
                  </a:lnTo>
                  <a:lnTo>
                    <a:pt x="0" y="482600"/>
                  </a:lnTo>
                  <a:lnTo>
                    <a:pt x="156210" y="501650"/>
                  </a:lnTo>
                  <a:lnTo>
                    <a:pt x="49530" y="617220"/>
                  </a:lnTo>
                  <a:lnTo>
                    <a:pt x="201930" y="581660"/>
                  </a:lnTo>
                  <a:lnTo>
                    <a:pt x="140970" y="726440"/>
                  </a:lnTo>
                  <a:lnTo>
                    <a:pt x="273050" y="640080"/>
                  </a:lnTo>
                  <a:lnTo>
                    <a:pt x="264160" y="797560"/>
                  </a:lnTo>
                  <a:lnTo>
                    <a:pt x="359410" y="671830"/>
                  </a:lnTo>
                  <a:lnTo>
                    <a:pt x="405130" y="822960"/>
                  </a:lnTo>
                  <a:lnTo>
                    <a:pt x="450850" y="671830"/>
                  </a:lnTo>
                  <a:lnTo>
                    <a:pt x="546100" y="797560"/>
                  </a:lnTo>
                  <a:lnTo>
                    <a:pt x="537210" y="640080"/>
                  </a:lnTo>
                  <a:lnTo>
                    <a:pt x="669290" y="726440"/>
                  </a:lnTo>
                  <a:lnTo>
                    <a:pt x="608330" y="581660"/>
                  </a:lnTo>
                  <a:lnTo>
                    <a:pt x="760730" y="617220"/>
                  </a:lnTo>
                  <a:lnTo>
                    <a:pt x="654050" y="501650"/>
                  </a:lnTo>
                  <a:lnTo>
                    <a:pt x="810260" y="482600"/>
                  </a:lnTo>
                  <a:lnTo>
                    <a:pt x="669290" y="411480"/>
                  </a:lnTo>
                  <a:lnTo>
                    <a:pt x="810260" y="340360"/>
                  </a:lnTo>
                  <a:lnTo>
                    <a:pt x="654050" y="321310"/>
                  </a:lnTo>
                  <a:lnTo>
                    <a:pt x="760730" y="205740"/>
                  </a:lnTo>
                  <a:lnTo>
                    <a:pt x="608330" y="241300"/>
                  </a:lnTo>
                  <a:lnTo>
                    <a:pt x="669290" y="96520"/>
                  </a:lnTo>
                  <a:lnTo>
                    <a:pt x="537210" y="181610"/>
                  </a:lnTo>
                  <a:lnTo>
                    <a:pt x="546100" y="25400"/>
                  </a:lnTo>
                  <a:lnTo>
                    <a:pt x="450850" y="151130"/>
                  </a:ln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rtl="true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217429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7429" cy="1593725"/>
            </a:xfrm>
            <a:custGeom>
              <a:avLst/>
              <a:gdLst/>
              <a:ahLst/>
              <a:cxnLst/>
              <a:rect r="r" b="b" t="t" l="l"/>
              <a:pathLst>
                <a:path h="1593725" w="1217429">
                  <a:moveTo>
                    <a:pt x="1217429" y="0"/>
                  </a:moveTo>
                  <a:lnTo>
                    <a:pt x="0" y="0"/>
                  </a:lnTo>
                  <a:lnTo>
                    <a:pt x="0" y="1593725"/>
                  </a:lnTo>
                  <a:lnTo>
                    <a:pt x="1217429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55" r="0" b="-25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390385" y="666755"/>
            <a:ext cx="7230865" cy="5553075"/>
            <a:chOff x="0" y="0"/>
            <a:chExt cx="9641153" cy="74041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57150"/>
              <a:ext cx="9614826" cy="2679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rtl="true" marL="0" indent="0" lvl="0">
                <a:lnSpc>
                  <a:spcPts val="7840"/>
                </a:lnSpc>
                <a:spcBef>
                  <a:spcPct val="0"/>
                </a:spcBef>
              </a:pPr>
              <a:r>
                <a:rPr lang="he-IL" sz="7000" i="true">
                  <a:solidFill>
                    <a:srgbClr val="00897B"/>
                  </a:solidFill>
                  <a:latin typeface="Radley Italics"/>
                  <a:ea typeface="Radley Italics"/>
                  <a:cs typeface="Radley Italics"/>
                  <a:sym typeface="Radley Italics"/>
                  <a:rtl val="true"/>
                </a:rPr>
                <a:t>כיצד הבוט משרת את מכבי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708400"/>
              <a:ext cx="9614826" cy="1397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rtl="true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he-IL" sz="3499" u="none">
                  <a:solidFill>
                    <a:srgbClr val="00897B"/>
                  </a:solidFill>
                  <a:latin typeface="Radley"/>
                  <a:ea typeface="Radley"/>
                  <a:cs typeface="Radley"/>
                  <a:sym typeface="Radley"/>
                  <a:rtl val="true"/>
                </a:rPr>
                <a:t>יתרונות השימוש בבוט מיון חירום עבור מערכת הבריאות שלנו</a:t>
              </a:r>
            </a:p>
          </p:txBody>
        </p:sp>
        <p:sp>
          <p:nvSpPr>
            <p:cNvPr name="AutoShape 7" id="7"/>
            <p:cNvSpPr/>
            <p:nvPr/>
          </p:nvSpPr>
          <p:spPr>
            <a:xfrm>
              <a:off x="26326" y="3222414"/>
              <a:ext cx="9614826" cy="0"/>
            </a:xfrm>
            <a:prstGeom prst="line">
              <a:avLst/>
            </a:prstGeom>
            <a:ln cap="flat" w="25400">
              <a:solidFill>
                <a:srgbClr val="00897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" id="8"/>
            <p:cNvSpPr txBox="true"/>
            <p:nvPr/>
          </p:nvSpPr>
          <p:spPr>
            <a:xfrm rot="0">
              <a:off x="26326" y="5740400"/>
              <a:ext cx="9588500" cy="1663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rtl="true" marL="0" indent="0" lvl="0">
                <a:lnSpc>
                  <a:spcPts val="2400"/>
                </a:lnSpc>
              </a:pP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הבוט המיון חירום של מכבי מציע </a:t>
              </a:r>
              <a:r>
                <a:rPr lang="he-IL" b="true" sz="2000">
                  <a:solidFill>
                    <a:srgbClr val="333333"/>
                  </a:solidFill>
                  <a:latin typeface="Carlito Bold"/>
                  <a:ea typeface="Carlito Bold"/>
                  <a:cs typeface="Carlito Bold"/>
                  <a:sym typeface="Carlito Bold"/>
                  <a:rtl val="true"/>
                </a:rPr>
                <a:t>זמינות </a:t>
              </a:r>
              <a:r>
                <a:rPr lang="en-US" b="true" sz="2000">
                  <a:solidFill>
                    <a:srgbClr val="333333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24/7</a:t>
              </a: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 ומפחית את העומס על מרכזי השירות. הוא מספק תשובות איכותיות ועקביות, ומפנה מקרים מורכבים לסוכן אנושי במידת הצורך. בכך, הוא עשוי לחסוך חיים ולהבטיח טיפול מהיר ויעיל למטופלים.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449520" y="9184102"/>
            <a:ext cx="2171730" cy="2205796"/>
            <a:chOff x="0" y="0"/>
            <a:chExt cx="812800" cy="825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" y="0"/>
              <a:ext cx="810260" cy="822960"/>
            </a:xfrm>
            <a:custGeom>
              <a:avLst/>
              <a:gdLst/>
              <a:ahLst/>
              <a:cxnLst/>
              <a:rect r="r" b="b" t="t" l="l"/>
              <a:pathLst>
                <a:path h="822960" w="810260">
                  <a:moveTo>
                    <a:pt x="405130" y="0"/>
                  </a:moveTo>
                  <a:lnTo>
                    <a:pt x="359410" y="151130"/>
                  </a:lnTo>
                  <a:lnTo>
                    <a:pt x="264160" y="25400"/>
                  </a:lnTo>
                  <a:lnTo>
                    <a:pt x="273050" y="181610"/>
                  </a:lnTo>
                  <a:lnTo>
                    <a:pt x="140970" y="96520"/>
                  </a:lnTo>
                  <a:lnTo>
                    <a:pt x="201930" y="241300"/>
                  </a:lnTo>
                  <a:lnTo>
                    <a:pt x="49530" y="205740"/>
                  </a:lnTo>
                  <a:lnTo>
                    <a:pt x="156210" y="321310"/>
                  </a:lnTo>
                  <a:lnTo>
                    <a:pt x="0" y="340360"/>
                  </a:lnTo>
                  <a:lnTo>
                    <a:pt x="140970" y="411480"/>
                  </a:lnTo>
                  <a:lnTo>
                    <a:pt x="0" y="482600"/>
                  </a:lnTo>
                  <a:lnTo>
                    <a:pt x="156210" y="501650"/>
                  </a:lnTo>
                  <a:lnTo>
                    <a:pt x="49530" y="617220"/>
                  </a:lnTo>
                  <a:lnTo>
                    <a:pt x="201930" y="581660"/>
                  </a:lnTo>
                  <a:lnTo>
                    <a:pt x="140970" y="726440"/>
                  </a:lnTo>
                  <a:lnTo>
                    <a:pt x="273050" y="640080"/>
                  </a:lnTo>
                  <a:lnTo>
                    <a:pt x="264160" y="797560"/>
                  </a:lnTo>
                  <a:lnTo>
                    <a:pt x="359410" y="671830"/>
                  </a:lnTo>
                  <a:lnTo>
                    <a:pt x="405130" y="822960"/>
                  </a:lnTo>
                  <a:lnTo>
                    <a:pt x="450850" y="671830"/>
                  </a:lnTo>
                  <a:lnTo>
                    <a:pt x="546100" y="797560"/>
                  </a:lnTo>
                  <a:lnTo>
                    <a:pt x="537210" y="640080"/>
                  </a:lnTo>
                  <a:lnTo>
                    <a:pt x="669290" y="726440"/>
                  </a:lnTo>
                  <a:lnTo>
                    <a:pt x="608330" y="581660"/>
                  </a:lnTo>
                  <a:lnTo>
                    <a:pt x="760730" y="617220"/>
                  </a:lnTo>
                  <a:lnTo>
                    <a:pt x="654050" y="501650"/>
                  </a:lnTo>
                  <a:lnTo>
                    <a:pt x="810260" y="482600"/>
                  </a:lnTo>
                  <a:lnTo>
                    <a:pt x="669290" y="411480"/>
                  </a:lnTo>
                  <a:lnTo>
                    <a:pt x="810260" y="340360"/>
                  </a:lnTo>
                  <a:lnTo>
                    <a:pt x="654050" y="321310"/>
                  </a:lnTo>
                  <a:lnTo>
                    <a:pt x="760730" y="205740"/>
                  </a:lnTo>
                  <a:lnTo>
                    <a:pt x="608330" y="241300"/>
                  </a:lnTo>
                  <a:lnTo>
                    <a:pt x="669290" y="96520"/>
                  </a:lnTo>
                  <a:lnTo>
                    <a:pt x="537210" y="181610"/>
                  </a:lnTo>
                  <a:lnTo>
                    <a:pt x="546100" y="25400"/>
                  </a:lnTo>
                  <a:lnTo>
                    <a:pt x="450850" y="151130"/>
                  </a:ln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rtl="true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545464"/>
            <a:ext cx="16954500" cy="100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7840"/>
              </a:lnSpc>
              <a:spcBef>
                <a:spcPct val="0"/>
              </a:spcBef>
            </a:pPr>
            <a:r>
              <a:rPr lang="he-IL" sz="7000">
                <a:solidFill>
                  <a:srgbClr val="00897B"/>
                </a:solidFill>
                <a:latin typeface="Radley"/>
                <a:ea typeface="Radley"/>
                <a:cs typeface="Radley"/>
                <a:sym typeface="Radley"/>
                <a:rtl val="true"/>
              </a:rPr>
              <a:t>השוואת מודלים של </a:t>
            </a:r>
            <a:r>
              <a:rPr lang="en-US" sz="7000">
                <a:solidFill>
                  <a:srgbClr val="00897B"/>
                </a:solidFill>
                <a:latin typeface="Radley"/>
                <a:ea typeface="Radley"/>
                <a:cs typeface="Radley"/>
                <a:sym typeface="Radley"/>
              </a:rPr>
              <a:t>OpenAI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611225" y="1728472"/>
            <a:ext cx="4010025" cy="4295001"/>
            <a:chOff x="0" y="0"/>
            <a:chExt cx="5346700" cy="572666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57150"/>
              <a:ext cx="53467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rtl="true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897B"/>
                  </a:solidFill>
                  <a:latin typeface="Radley"/>
                  <a:ea typeface="Radley"/>
                  <a:cs typeface="Radley"/>
                  <a:sym typeface="Radley"/>
                </a:rPr>
                <a:t>GPT-4o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539776"/>
              <a:ext cx="5346700" cy="5186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rtl="true" marL="0" indent="0" lvl="0">
                <a:lnSpc>
                  <a:spcPts val="2799"/>
                </a:lnSpc>
              </a:pPr>
              <a:r>
                <a:rPr lang="he-IL" sz="1999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המודל המתקדם ביותר עם דיוק גבוה</a:t>
              </a:r>
            </a:p>
            <a:p>
              <a:pPr algn="r" rtl="true" marL="0" indent="0" lvl="0">
                <a:lnSpc>
                  <a:spcPts val="2799"/>
                </a:lnSpc>
              </a:pPr>
            </a:p>
            <a:p>
              <a:pPr algn="r" rtl="true" marL="0" indent="0" lvl="0">
                <a:lnSpc>
                  <a:spcPts val="2799"/>
                </a:lnSpc>
              </a:pPr>
              <a:r>
                <a:rPr lang="he-IL" sz="1999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יתרונות:</a:t>
              </a:r>
            </a:p>
            <a:p>
              <a:pPr algn="r" rtl="true" marL="0" indent="0" lvl="0">
                <a:lnSpc>
                  <a:spcPts val="2799"/>
                </a:lnSpc>
              </a:pPr>
              <a:r>
                <a:rPr lang="he-IL" sz="1999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- הכי חכם ומדויק</a:t>
              </a:r>
            </a:p>
            <a:p>
              <a:pPr algn="r" rtl="true" marL="0" indent="0" lvl="0">
                <a:lnSpc>
                  <a:spcPts val="2799"/>
                </a:lnSpc>
              </a:pPr>
              <a:r>
                <a:rPr lang="he-IL" sz="1999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- יכולת הסקה והבנה מעולה</a:t>
              </a:r>
            </a:p>
            <a:p>
              <a:pPr algn="r" rtl="true" marL="0" indent="0" lvl="0">
                <a:lnSpc>
                  <a:spcPts val="2799"/>
                </a:lnSpc>
              </a:pPr>
              <a:r>
                <a:rPr lang="he-IL" sz="1999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- מתאים למשימות מורכבות</a:t>
              </a:r>
            </a:p>
            <a:p>
              <a:pPr algn="r" rtl="true" marL="0" indent="0" lvl="0">
                <a:lnSpc>
                  <a:spcPts val="2799"/>
                </a:lnSpc>
              </a:pPr>
            </a:p>
            <a:p>
              <a:pPr algn="r" rtl="true" marL="0" indent="0" lvl="0">
                <a:lnSpc>
                  <a:spcPts val="2799"/>
                </a:lnSpc>
              </a:pPr>
              <a:r>
                <a:rPr lang="he-IL" sz="1999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חסרונות:</a:t>
              </a:r>
            </a:p>
            <a:p>
              <a:pPr algn="r" rtl="true" marL="0" indent="0" lvl="0">
                <a:lnSpc>
                  <a:spcPts val="2799"/>
                </a:lnSpc>
              </a:pPr>
              <a:r>
                <a:rPr lang="he-IL" sz="1999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- יקר יותר ואיטי יחסית</a:t>
              </a:r>
            </a:p>
            <a:p>
              <a:pPr algn="r" rtl="true" marL="0" indent="0" lvl="0">
                <a:lnSpc>
                  <a:spcPts val="2799"/>
                </a:lnSpc>
              </a:pPr>
            </a:p>
            <a:p>
              <a:pPr algn="r" rtl="true" marL="0" indent="0" lvl="0">
                <a:lnSpc>
                  <a:spcPts val="2799"/>
                </a:lnSpc>
              </a:pPr>
              <a:r>
                <a:rPr lang="he-IL" sz="1999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עלות: $$$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981575" y="1728472"/>
            <a:ext cx="4010025" cy="4352015"/>
            <a:chOff x="0" y="0"/>
            <a:chExt cx="5346700" cy="580268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57150"/>
              <a:ext cx="53467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rtl="true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897B"/>
                  </a:solidFill>
                  <a:latin typeface="Radley"/>
                  <a:ea typeface="Radley"/>
                  <a:cs typeface="Radley"/>
                  <a:sym typeface="Radley"/>
                </a:rPr>
                <a:t>GPT-4.1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615794"/>
              <a:ext cx="5346700" cy="5186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rtl="true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he-IL" sz="1999" strike="noStrike" u="none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משופר עם יכולות חדשות ויתרונות</a:t>
              </a:r>
            </a:p>
            <a:p>
              <a:pPr algn="r" rtl="true" marL="0" indent="0" lvl="0">
                <a:lnSpc>
                  <a:spcPts val="2799"/>
                </a:lnSpc>
                <a:spcBef>
                  <a:spcPct val="0"/>
                </a:spcBef>
              </a:pPr>
            </a:p>
            <a:p>
              <a:pPr algn="r" rtl="true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he-IL" sz="1999" strike="noStrike" u="none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יתרונות:</a:t>
              </a:r>
            </a:p>
            <a:p>
              <a:pPr algn="r" rtl="true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he-IL" sz="1999" strike="noStrike" u="none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- הגרסה החדשה ביותר</a:t>
              </a:r>
            </a:p>
            <a:p>
              <a:pPr algn="r" rtl="true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he-IL" sz="1999" strike="noStrike" u="none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- דיוק משופר</a:t>
              </a:r>
            </a:p>
            <a:p>
              <a:pPr algn="r" rtl="true" marL="0" indent="0" lvl="0">
                <a:lnSpc>
                  <a:spcPts val="2799"/>
                </a:lnSpc>
                <a:spcBef>
                  <a:spcPct val="0"/>
                </a:spcBef>
              </a:pPr>
            </a:p>
            <a:p>
              <a:pPr algn="r" rtl="true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he-IL" sz="1999" strike="noStrike" u="none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חסרונות:</a:t>
              </a:r>
            </a:p>
            <a:p>
              <a:pPr algn="r" rtl="true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he-IL" sz="1999" strike="noStrike" u="none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- חדש = פחות נבדק בשטח</a:t>
              </a:r>
            </a:p>
            <a:p>
              <a:pPr algn="r" rtl="true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he-IL" sz="1999" strike="noStrike" u="none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- יקר</a:t>
              </a:r>
            </a:p>
            <a:p>
              <a:pPr algn="r" rtl="true" marL="0" indent="0" lvl="0">
                <a:lnSpc>
                  <a:spcPts val="2799"/>
                </a:lnSpc>
                <a:spcBef>
                  <a:spcPct val="0"/>
                </a:spcBef>
              </a:pPr>
            </a:p>
            <a:p>
              <a:pPr algn="r" rtl="true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he-IL" sz="1999" strike="noStrike" u="none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עלות: $$$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96400" y="1728472"/>
            <a:ext cx="4010025" cy="4295001"/>
            <a:chOff x="0" y="0"/>
            <a:chExt cx="5346700" cy="5726668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57150"/>
              <a:ext cx="53467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rtl="true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897B"/>
                  </a:solidFill>
                  <a:latin typeface="Radley"/>
                  <a:ea typeface="Radley"/>
                  <a:cs typeface="Radley"/>
                  <a:sym typeface="Radley"/>
                </a:rPr>
                <a:t>GPT-4o Mini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539776"/>
              <a:ext cx="5346700" cy="5186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rtl="true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he-IL" sz="1999" strike="noStrike" u="none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גרסה מוקטנת עם עלות נמוכה</a:t>
              </a:r>
            </a:p>
            <a:p>
              <a:pPr algn="r" rtl="true" marL="0" indent="0" lvl="0">
                <a:lnSpc>
                  <a:spcPts val="2799"/>
                </a:lnSpc>
                <a:spcBef>
                  <a:spcPct val="0"/>
                </a:spcBef>
              </a:pPr>
            </a:p>
            <a:p>
              <a:pPr algn="r" rtl="true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he-IL" sz="1999" strike="noStrike" u="none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יתרונות:</a:t>
              </a:r>
            </a:p>
            <a:p>
              <a:pPr algn="r" rtl="true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he-IL" sz="1999" strike="noStrike" u="none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- איזון טוב בין מחיר לביצועים</a:t>
              </a:r>
            </a:p>
            <a:p>
              <a:pPr algn="r" rtl="true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he-IL" sz="1999" strike="noStrike" u="none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- מהיר וחסכוני</a:t>
              </a:r>
            </a:p>
            <a:p>
              <a:pPr algn="r" rtl="true" marL="0" indent="0" lvl="0">
                <a:lnSpc>
                  <a:spcPts val="2799"/>
                </a:lnSpc>
                <a:spcBef>
                  <a:spcPct val="0"/>
                </a:spcBef>
              </a:pPr>
            </a:p>
            <a:p>
              <a:pPr algn="r" rtl="true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he-IL" sz="1999" strike="noStrike" u="none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חסרונות:</a:t>
              </a:r>
            </a:p>
            <a:p>
              <a:pPr algn="r" rtl="true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he-IL" sz="1999" strike="noStrike" u="none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- פחות מדויק במקרים מורכבים</a:t>
              </a:r>
            </a:p>
            <a:p>
              <a:pPr algn="r" rtl="true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he-IL" sz="1999" strike="noStrike" u="none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- יכולת הסקה מוגבלת יותר</a:t>
              </a:r>
            </a:p>
            <a:p>
              <a:pPr algn="r" rtl="true" marL="0" indent="0" lvl="0">
                <a:lnSpc>
                  <a:spcPts val="2799"/>
                </a:lnSpc>
                <a:spcBef>
                  <a:spcPct val="0"/>
                </a:spcBef>
              </a:pPr>
            </a:p>
            <a:p>
              <a:pPr algn="r" rtl="true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he-IL" sz="1999" strike="noStrike" u="none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עלות: $$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981575" y="6071098"/>
            <a:ext cx="4010025" cy="3856785"/>
            <a:chOff x="0" y="0"/>
            <a:chExt cx="1391532" cy="13383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91532" cy="1338356"/>
            </a:xfrm>
            <a:custGeom>
              <a:avLst/>
              <a:gdLst/>
              <a:ahLst/>
              <a:cxnLst/>
              <a:rect r="r" b="b" t="t" l="l"/>
              <a:pathLst>
                <a:path h="1338356" w="1391532">
                  <a:moveTo>
                    <a:pt x="1391532" y="0"/>
                  </a:moveTo>
                  <a:lnTo>
                    <a:pt x="0" y="0"/>
                  </a:lnTo>
                  <a:lnTo>
                    <a:pt x="0" y="1338356"/>
                  </a:lnTo>
                  <a:lnTo>
                    <a:pt x="1391532" y="1338356"/>
                  </a:lnTo>
                  <a:close/>
                </a:path>
              </a:pathLst>
            </a:custGeom>
            <a:blipFill>
              <a:blip r:embed="rId2"/>
              <a:stretch>
                <a:fillRect l="0" t="-11070" r="0" b="-1107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296400" y="6071098"/>
            <a:ext cx="4010025" cy="3856785"/>
            <a:chOff x="0" y="0"/>
            <a:chExt cx="1391532" cy="13383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91532" cy="1338356"/>
            </a:xfrm>
            <a:custGeom>
              <a:avLst/>
              <a:gdLst/>
              <a:ahLst/>
              <a:cxnLst/>
              <a:rect r="r" b="b" t="t" l="l"/>
              <a:pathLst>
                <a:path h="1338356" w="1391532">
                  <a:moveTo>
                    <a:pt x="1391532" y="0"/>
                  </a:moveTo>
                  <a:lnTo>
                    <a:pt x="0" y="0"/>
                  </a:lnTo>
                  <a:lnTo>
                    <a:pt x="0" y="1338356"/>
                  </a:lnTo>
                  <a:lnTo>
                    <a:pt x="1391532" y="1338356"/>
                  </a:lnTo>
                  <a:close/>
                </a:path>
              </a:pathLst>
            </a:custGeom>
            <a:blipFill>
              <a:blip r:embed="rId3"/>
              <a:stretch>
                <a:fillRect l="0" t="-11070" r="0" b="-1107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611225" y="6071098"/>
            <a:ext cx="4010025" cy="3856785"/>
            <a:chOff x="0" y="0"/>
            <a:chExt cx="879848" cy="8462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9848" cy="846225"/>
            </a:xfrm>
            <a:custGeom>
              <a:avLst/>
              <a:gdLst/>
              <a:ahLst/>
              <a:cxnLst/>
              <a:rect r="r" b="b" t="t" l="l"/>
              <a:pathLst>
                <a:path h="846225" w="879848">
                  <a:moveTo>
                    <a:pt x="879848" y="0"/>
                  </a:moveTo>
                  <a:lnTo>
                    <a:pt x="0" y="0"/>
                  </a:lnTo>
                  <a:lnTo>
                    <a:pt x="0" y="846225"/>
                  </a:lnTo>
                  <a:lnTo>
                    <a:pt x="879848" y="846225"/>
                  </a:lnTo>
                  <a:close/>
                </a:path>
              </a:pathLst>
            </a:custGeom>
            <a:blipFill>
              <a:blip r:embed="rId4"/>
              <a:stretch>
                <a:fillRect l="0" t="-11070" r="0" b="-1107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66421" y="6071098"/>
            <a:ext cx="4010025" cy="3856785"/>
            <a:chOff x="0" y="0"/>
            <a:chExt cx="1391532" cy="13383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91532" cy="1338356"/>
            </a:xfrm>
            <a:custGeom>
              <a:avLst/>
              <a:gdLst/>
              <a:ahLst/>
              <a:cxnLst/>
              <a:rect r="r" b="b" t="t" l="l"/>
              <a:pathLst>
                <a:path h="1338356" w="1391532">
                  <a:moveTo>
                    <a:pt x="1391532" y="0"/>
                  </a:moveTo>
                  <a:lnTo>
                    <a:pt x="0" y="0"/>
                  </a:lnTo>
                  <a:lnTo>
                    <a:pt x="0" y="1338356"/>
                  </a:lnTo>
                  <a:lnTo>
                    <a:pt x="1391532" y="1338356"/>
                  </a:lnTo>
                  <a:close/>
                </a:path>
              </a:pathLst>
            </a:custGeom>
            <a:blipFill>
              <a:blip r:embed="rId5"/>
              <a:stretch>
                <a:fillRect l="0" t="-11070" r="0" b="-1107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66750" y="1728472"/>
            <a:ext cx="4009696" cy="4352015"/>
            <a:chOff x="0" y="0"/>
            <a:chExt cx="5346261" cy="5802686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-57150"/>
              <a:ext cx="5346261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rtl="true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897B"/>
                  </a:solidFill>
                  <a:latin typeface="Radley"/>
                  <a:ea typeface="Radley"/>
                  <a:cs typeface="Radley"/>
                  <a:sym typeface="Radley"/>
                </a:rPr>
                <a:t>GPT-4.1 Mini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615794"/>
              <a:ext cx="5346261" cy="5186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rtl="true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he-IL" sz="1999" strike="noStrike" u="none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גרסה קלה עם יתרונות נוספים</a:t>
              </a:r>
            </a:p>
            <a:p>
              <a:pPr algn="r" rtl="true" marL="0" indent="0" lvl="0">
                <a:lnSpc>
                  <a:spcPts val="2799"/>
                </a:lnSpc>
                <a:spcBef>
                  <a:spcPct val="0"/>
                </a:spcBef>
              </a:pPr>
            </a:p>
            <a:p>
              <a:pPr algn="r" rtl="true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he-IL" sz="1999" strike="noStrike" u="none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יתרונות:</a:t>
              </a:r>
            </a:p>
            <a:p>
              <a:pPr algn="r" rtl="true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he-IL" sz="1999" strike="noStrike" u="none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- מהיר מאוד והכי זול</a:t>
              </a:r>
            </a:p>
            <a:p>
              <a:pPr algn="r" rtl="true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he-IL" sz="1999" strike="noStrike" u="none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- יעיל למשימות פשוטות</a:t>
              </a:r>
            </a:p>
            <a:p>
              <a:pPr algn="r" rtl="true" marL="0" indent="0" lvl="0">
                <a:lnSpc>
                  <a:spcPts val="2799"/>
                </a:lnSpc>
                <a:spcBef>
                  <a:spcPct val="0"/>
                </a:spcBef>
              </a:pPr>
            </a:p>
            <a:p>
              <a:pPr algn="r" rtl="true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he-IL" sz="1999" strike="noStrike" u="none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חסרונות:</a:t>
              </a:r>
            </a:p>
            <a:p>
              <a:pPr algn="r" rtl="true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he-IL" sz="1999" strike="noStrike" u="none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- עלול לפספס ניואנסים</a:t>
              </a:r>
            </a:p>
            <a:p>
              <a:pPr algn="r" rtl="true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he-IL" sz="1999" strike="noStrike" u="none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- לא מתאים למשימות קריטיות</a:t>
              </a:r>
            </a:p>
            <a:p>
              <a:pPr algn="r" rtl="true" marL="0" indent="0" lvl="0">
                <a:lnSpc>
                  <a:spcPts val="2799"/>
                </a:lnSpc>
                <a:spcBef>
                  <a:spcPct val="0"/>
                </a:spcBef>
              </a:pPr>
            </a:p>
            <a:p>
              <a:pPr algn="r" rtl="true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he-IL" sz="1999" strike="noStrike" u="none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עלות: $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217429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7429" cy="1593725"/>
            </a:xfrm>
            <a:custGeom>
              <a:avLst/>
              <a:gdLst/>
              <a:ahLst/>
              <a:cxnLst/>
              <a:rect r="r" b="b" t="t" l="l"/>
              <a:pathLst>
                <a:path h="1593725" w="1217429">
                  <a:moveTo>
                    <a:pt x="1217429" y="0"/>
                  </a:moveTo>
                  <a:lnTo>
                    <a:pt x="0" y="0"/>
                  </a:lnTo>
                  <a:lnTo>
                    <a:pt x="0" y="1593725"/>
                  </a:lnTo>
                  <a:lnTo>
                    <a:pt x="1217429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55" r="0" b="-25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390385" y="666755"/>
            <a:ext cx="7230865" cy="5857875"/>
            <a:chOff x="0" y="0"/>
            <a:chExt cx="9641153" cy="78105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57150"/>
              <a:ext cx="9614826" cy="2679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rtl="true" marL="0" indent="0" lvl="0">
                <a:lnSpc>
                  <a:spcPts val="7840"/>
                </a:lnSpc>
                <a:spcBef>
                  <a:spcPct val="0"/>
                </a:spcBef>
              </a:pPr>
              <a:r>
                <a:rPr lang="he-IL" sz="7000" i="true">
                  <a:solidFill>
                    <a:srgbClr val="00897B"/>
                  </a:solidFill>
                  <a:latin typeface="Radley Italics"/>
                  <a:ea typeface="Radley Italics"/>
                  <a:cs typeface="Radley Italics"/>
                  <a:sym typeface="Radley Italics"/>
                  <a:rtl val="true"/>
                </a:rPr>
                <a:t>בחירת המודל המומלץ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708400"/>
              <a:ext cx="9614826" cy="1397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rtl="true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he-IL" sz="3499" u="none">
                  <a:solidFill>
                    <a:srgbClr val="00897B"/>
                  </a:solidFill>
                  <a:latin typeface="Radley"/>
                  <a:ea typeface="Radley"/>
                  <a:cs typeface="Radley"/>
                  <a:sym typeface="Radley"/>
                  <a:rtl val="true"/>
                </a:rPr>
                <a:t>בחירה חכמה בין </a:t>
              </a:r>
              <a:r>
                <a:rPr lang="en-US" sz="3499" u="none">
                  <a:solidFill>
                    <a:srgbClr val="00897B"/>
                  </a:solidFill>
                  <a:latin typeface="Radley"/>
                  <a:ea typeface="Radley"/>
                  <a:cs typeface="Radley"/>
                  <a:sym typeface="Radley"/>
                </a:rPr>
                <a:t>GPT-4o</a:t>
              </a:r>
              <a:r>
                <a:rPr lang="he-IL" sz="3499" u="none">
                  <a:solidFill>
                    <a:srgbClr val="00897B"/>
                  </a:solidFill>
                  <a:latin typeface="Radley"/>
                  <a:ea typeface="Radley"/>
                  <a:cs typeface="Radley"/>
                  <a:sym typeface="Radley"/>
                  <a:rtl val="true"/>
                </a:rPr>
                <a:t> ל-</a:t>
              </a:r>
              <a:r>
                <a:rPr lang="en-US" sz="3499" u="none">
                  <a:solidFill>
                    <a:srgbClr val="00897B"/>
                  </a:solidFill>
                  <a:latin typeface="Radley"/>
                  <a:ea typeface="Radley"/>
                  <a:cs typeface="Radley"/>
                  <a:sym typeface="Radley"/>
                </a:rPr>
                <a:t>GPT-4o Mini</a:t>
              </a:r>
              <a:r>
                <a:rPr lang="he-IL" sz="3499" u="none">
                  <a:solidFill>
                    <a:srgbClr val="00897B"/>
                  </a:solidFill>
                  <a:latin typeface="Radley"/>
                  <a:ea typeface="Radley"/>
                  <a:cs typeface="Radley"/>
                  <a:sym typeface="Radley"/>
                  <a:rtl val="true"/>
                </a:rPr>
                <a:t> עבור צרכים רפואיים</a:t>
              </a:r>
            </a:p>
          </p:txBody>
        </p:sp>
        <p:sp>
          <p:nvSpPr>
            <p:cNvPr name="AutoShape 7" id="7"/>
            <p:cNvSpPr/>
            <p:nvPr/>
          </p:nvSpPr>
          <p:spPr>
            <a:xfrm>
              <a:off x="26326" y="3222414"/>
              <a:ext cx="9614826" cy="0"/>
            </a:xfrm>
            <a:prstGeom prst="line">
              <a:avLst/>
            </a:prstGeom>
            <a:ln cap="flat" w="25400">
              <a:solidFill>
                <a:srgbClr val="00897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" id="8"/>
            <p:cNvSpPr txBox="true"/>
            <p:nvPr/>
          </p:nvSpPr>
          <p:spPr>
            <a:xfrm rot="0">
              <a:off x="26326" y="5740400"/>
              <a:ext cx="9588500" cy="207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rtl="true" marL="0" indent="0" lvl="0">
                <a:lnSpc>
                  <a:spcPts val="2400"/>
                </a:lnSpc>
              </a:pP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המודל </a:t>
              </a:r>
              <a:r>
                <a:rPr lang="en-US" b="true" sz="2000">
                  <a:solidFill>
                    <a:srgbClr val="333333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GPT-4o</a:t>
              </a: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 מומלץ לשימוש במיון רפואי בזכות דיוק המידע ויכולת ניתוח גבוהה.</a:t>
              </a:r>
            </a:p>
            <a:p>
              <a:pPr algn="r" rtl="true" marL="0" indent="0" lvl="0">
                <a:lnSpc>
                  <a:spcPts val="2400"/>
                </a:lnSpc>
              </a:pP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כאופציה חלופית, </a:t>
              </a:r>
              <a:r>
                <a:rPr lang="en-US" b="true" sz="2000">
                  <a:solidFill>
                    <a:srgbClr val="333333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GPT-4o Mini</a:t>
              </a: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 מציע פתרונות טובים לשאלות בסיכון נמוך, תוך שמירה על עלויות נמוכות.</a:t>
              </a:r>
            </a:p>
            <a:p>
              <a:pPr algn="r" rtl="true" marL="0" indent="0" lvl="0">
                <a:lnSpc>
                  <a:spcPts val="24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449520" y="9184102"/>
            <a:ext cx="2171730" cy="2205796"/>
            <a:chOff x="0" y="0"/>
            <a:chExt cx="812800" cy="825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" y="0"/>
              <a:ext cx="810260" cy="822960"/>
            </a:xfrm>
            <a:custGeom>
              <a:avLst/>
              <a:gdLst/>
              <a:ahLst/>
              <a:cxnLst/>
              <a:rect r="r" b="b" t="t" l="l"/>
              <a:pathLst>
                <a:path h="822960" w="810260">
                  <a:moveTo>
                    <a:pt x="405130" y="0"/>
                  </a:moveTo>
                  <a:lnTo>
                    <a:pt x="359410" y="151130"/>
                  </a:lnTo>
                  <a:lnTo>
                    <a:pt x="264160" y="25400"/>
                  </a:lnTo>
                  <a:lnTo>
                    <a:pt x="273050" y="181610"/>
                  </a:lnTo>
                  <a:lnTo>
                    <a:pt x="140970" y="96520"/>
                  </a:lnTo>
                  <a:lnTo>
                    <a:pt x="201930" y="241300"/>
                  </a:lnTo>
                  <a:lnTo>
                    <a:pt x="49530" y="205740"/>
                  </a:lnTo>
                  <a:lnTo>
                    <a:pt x="156210" y="321310"/>
                  </a:lnTo>
                  <a:lnTo>
                    <a:pt x="0" y="340360"/>
                  </a:lnTo>
                  <a:lnTo>
                    <a:pt x="140970" y="411480"/>
                  </a:lnTo>
                  <a:lnTo>
                    <a:pt x="0" y="482600"/>
                  </a:lnTo>
                  <a:lnTo>
                    <a:pt x="156210" y="501650"/>
                  </a:lnTo>
                  <a:lnTo>
                    <a:pt x="49530" y="617220"/>
                  </a:lnTo>
                  <a:lnTo>
                    <a:pt x="201930" y="581660"/>
                  </a:lnTo>
                  <a:lnTo>
                    <a:pt x="140970" y="726440"/>
                  </a:lnTo>
                  <a:lnTo>
                    <a:pt x="273050" y="640080"/>
                  </a:lnTo>
                  <a:lnTo>
                    <a:pt x="264160" y="797560"/>
                  </a:lnTo>
                  <a:lnTo>
                    <a:pt x="359410" y="671830"/>
                  </a:lnTo>
                  <a:lnTo>
                    <a:pt x="405130" y="822960"/>
                  </a:lnTo>
                  <a:lnTo>
                    <a:pt x="450850" y="671830"/>
                  </a:lnTo>
                  <a:lnTo>
                    <a:pt x="546100" y="797560"/>
                  </a:lnTo>
                  <a:lnTo>
                    <a:pt x="537210" y="640080"/>
                  </a:lnTo>
                  <a:lnTo>
                    <a:pt x="669290" y="726440"/>
                  </a:lnTo>
                  <a:lnTo>
                    <a:pt x="608330" y="581660"/>
                  </a:lnTo>
                  <a:lnTo>
                    <a:pt x="760730" y="617220"/>
                  </a:lnTo>
                  <a:lnTo>
                    <a:pt x="654050" y="501650"/>
                  </a:lnTo>
                  <a:lnTo>
                    <a:pt x="810260" y="482600"/>
                  </a:lnTo>
                  <a:lnTo>
                    <a:pt x="669290" y="411480"/>
                  </a:lnTo>
                  <a:lnTo>
                    <a:pt x="810260" y="340360"/>
                  </a:lnTo>
                  <a:lnTo>
                    <a:pt x="654050" y="321310"/>
                  </a:lnTo>
                  <a:lnTo>
                    <a:pt x="760730" y="205740"/>
                  </a:lnTo>
                  <a:lnTo>
                    <a:pt x="608330" y="241300"/>
                  </a:lnTo>
                  <a:lnTo>
                    <a:pt x="669290" y="96520"/>
                  </a:lnTo>
                  <a:lnTo>
                    <a:pt x="537210" y="181610"/>
                  </a:lnTo>
                  <a:lnTo>
                    <a:pt x="546100" y="25400"/>
                  </a:lnTo>
                  <a:lnTo>
                    <a:pt x="450850" y="151130"/>
                  </a:ln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rtl="true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49520" y="9184102"/>
            <a:ext cx="2171730" cy="2205796"/>
            <a:chOff x="0" y="0"/>
            <a:chExt cx="812800" cy="825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" y="0"/>
              <a:ext cx="810260" cy="822960"/>
            </a:xfrm>
            <a:custGeom>
              <a:avLst/>
              <a:gdLst/>
              <a:ahLst/>
              <a:cxnLst/>
              <a:rect r="r" b="b" t="t" l="l"/>
              <a:pathLst>
                <a:path h="822960" w="810260">
                  <a:moveTo>
                    <a:pt x="405130" y="0"/>
                  </a:moveTo>
                  <a:lnTo>
                    <a:pt x="359410" y="151130"/>
                  </a:lnTo>
                  <a:lnTo>
                    <a:pt x="264160" y="25400"/>
                  </a:lnTo>
                  <a:lnTo>
                    <a:pt x="273050" y="181610"/>
                  </a:lnTo>
                  <a:lnTo>
                    <a:pt x="140970" y="96520"/>
                  </a:lnTo>
                  <a:lnTo>
                    <a:pt x="201930" y="241300"/>
                  </a:lnTo>
                  <a:lnTo>
                    <a:pt x="49530" y="205740"/>
                  </a:lnTo>
                  <a:lnTo>
                    <a:pt x="156210" y="321310"/>
                  </a:lnTo>
                  <a:lnTo>
                    <a:pt x="0" y="340360"/>
                  </a:lnTo>
                  <a:lnTo>
                    <a:pt x="140970" y="411480"/>
                  </a:lnTo>
                  <a:lnTo>
                    <a:pt x="0" y="482600"/>
                  </a:lnTo>
                  <a:lnTo>
                    <a:pt x="156210" y="501650"/>
                  </a:lnTo>
                  <a:lnTo>
                    <a:pt x="49530" y="617220"/>
                  </a:lnTo>
                  <a:lnTo>
                    <a:pt x="201930" y="581660"/>
                  </a:lnTo>
                  <a:lnTo>
                    <a:pt x="140970" y="726440"/>
                  </a:lnTo>
                  <a:lnTo>
                    <a:pt x="273050" y="640080"/>
                  </a:lnTo>
                  <a:lnTo>
                    <a:pt x="264160" y="797560"/>
                  </a:lnTo>
                  <a:lnTo>
                    <a:pt x="359410" y="671830"/>
                  </a:lnTo>
                  <a:lnTo>
                    <a:pt x="405130" y="822960"/>
                  </a:lnTo>
                  <a:lnTo>
                    <a:pt x="450850" y="671830"/>
                  </a:lnTo>
                  <a:lnTo>
                    <a:pt x="546100" y="797560"/>
                  </a:lnTo>
                  <a:lnTo>
                    <a:pt x="537210" y="640080"/>
                  </a:lnTo>
                  <a:lnTo>
                    <a:pt x="669290" y="726440"/>
                  </a:lnTo>
                  <a:lnTo>
                    <a:pt x="608330" y="581660"/>
                  </a:lnTo>
                  <a:lnTo>
                    <a:pt x="760730" y="617220"/>
                  </a:lnTo>
                  <a:lnTo>
                    <a:pt x="654050" y="501650"/>
                  </a:lnTo>
                  <a:lnTo>
                    <a:pt x="810260" y="482600"/>
                  </a:lnTo>
                  <a:lnTo>
                    <a:pt x="669290" y="411480"/>
                  </a:lnTo>
                  <a:lnTo>
                    <a:pt x="810260" y="340360"/>
                  </a:lnTo>
                  <a:lnTo>
                    <a:pt x="654050" y="321310"/>
                  </a:lnTo>
                  <a:lnTo>
                    <a:pt x="760730" y="205740"/>
                  </a:lnTo>
                  <a:lnTo>
                    <a:pt x="608330" y="241300"/>
                  </a:lnTo>
                  <a:lnTo>
                    <a:pt x="669290" y="96520"/>
                  </a:lnTo>
                  <a:lnTo>
                    <a:pt x="537210" y="181610"/>
                  </a:lnTo>
                  <a:lnTo>
                    <a:pt x="546100" y="25400"/>
                  </a:lnTo>
                  <a:lnTo>
                    <a:pt x="450850" y="151130"/>
                  </a:ln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rtl="true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96764" y="1866822"/>
            <a:ext cx="8061410" cy="7317280"/>
          </a:xfrm>
          <a:custGeom>
            <a:avLst/>
            <a:gdLst/>
            <a:ahLst/>
            <a:cxnLst/>
            <a:rect r="r" b="b" t="t" l="l"/>
            <a:pathLst>
              <a:path h="7317280" w="8061410">
                <a:moveTo>
                  <a:pt x="0" y="0"/>
                </a:moveTo>
                <a:lnTo>
                  <a:pt x="8061410" y="0"/>
                </a:lnTo>
                <a:lnTo>
                  <a:pt x="8061410" y="7317280"/>
                </a:lnTo>
                <a:lnTo>
                  <a:pt x="0" y="7317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901886" y="1866822"/>
            <a:ext cx="8719364" cy="5560904"/>
          </a:xfrm>
          <a:custGeom>
            <a:avLst/>
            <a:gdLst/>
            <a:ahLst/>
            <a:cxnLst/>
            <a:rect r="r" b="b" t="t" l="l"/>
            <a:pathLst>
              <a:path h="5560904" w="8719364">
                <a:moveTo>
                  <a:pt x="0" y="0"/>
                </a:moveTo>
                <a:lnTo>
                  <a:pt x="8719364" y="0"/>
                </a:lnTo>
                <a:lnTo>
                  <a:pt x="8719364" y="5560904"/>
                </a:lnTo>
                <a:lnTo>
                  <a:pt x="0" y="55609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96764" y="714375"/>
            <a:ext cx="17124486" cy="875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6817"/>
              </a:lnSpc>
              <a:spcBef>
                <a:spcPct val="0"/>
              </a:spcBef>
            </a:pPr>
            <a:r>
              <a:rPr lang="he-IL" sz="6087">
                <a:solidFill>
                  <a:srgbClr val="00897B"/>
                </a:solidFill>
                <a:latin typeface="Radley"/>
                <a:ea typeface="Radley"/>
                <a:cs typeface="Radley"/>
                <a:sym typeface="Radley"/>
                <a:rtl val="true"/>
              </a:rPr>
              <a:t>הפרומפט המלא של מודל הבינה המלאכותית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49520" y="9184102"/>
            <a:ext cx="2171730" cy="2205796"/>
            <a:chOff x="0" y="0"/>
            <a:chExt cx="812800" cy="825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" y="0"/>
              <a:ext cx="810260" cy="822960"/>
            </a:xfrm>
            <a:custGeom>
              <a:avLst/>
              <a:gdLst/>
              <a:ahLst/>
              <a:cxnLst/>
              <a:rect r="r" b="b" t="t" l="l"/>
              <a:pathLst>
                <a:path h="822960" w="810260">
                  <a:moveTo>
                    <a:pt x="405130" y="0"/>
                  </a:moveTo>
                  <a:lnTo>
                    <a:pt x="359410" y="151130"/>
                  </a:lnTo>
                  <a:lnTo>
                    <a:pt x="264160" y="25400"/>
                  </a:lnTo>
                  <a:lnTo>
                    <a:pt x="273050" y="181610"/>
                  </a:lnTo>
                  <a:lnTo>
                    <a:pt x="140970" y="96520"/>
                  </a:lnTo>
                  <a:lnTo>
                    <a:pt x="201930" y="241300"/>
                  </a:lnTo>
                  <a:lnTo>
                    <a:pt x="49530" y="205740"/>
                  </a:lnTo>
                  <a:lnTo>
                    <a:pt x="156210" y="321310"/>
                  </a:lnTo>
                  <a:lnTo>
                    <a:pt x="0" y="340360"/>
                  </a:lnTo>
                  <a:lnTo>
                    <a:pt x="140970" y="411480"/>
                  </a:lnTo>
                  <a:lnTo>
                    <a:pt x="0" y="482600"/>
                  </a:lnTo>
                  <a:lnTo>
                    <a:pt x="156210" y="501650"/>
                  </a:lnTo>
                  <a:lnTo>
                    <a:pt x="49530" y="617220"/>
                  </a:lnTo>
                  <a:lnTo>
                    <a:pt x="201930" y="581660"/>
                  </a:lnTo>
                  <a:lnTo>
                    <a:pt x="140970" y="726440"/>
                  </a:lnTo>
                  <a:lnTo>
                    <a:pt x="273050" y="640080"/>
                  </a:lnTo>
                  <a:lnTo>
                    <a:pt x="264160" y="797560"/>
                  </a:lnTo>
                  <a:lnTo>
                    <a:pt x="359410" y="671830"/>
                  </a:lnTo>
                  <a:lnTo>
                    <a:pt x="405130" y="822960"/>
                  </a:lnTo>
                  <a:lnTo>
                    <a:pt x="450850" y="671830"/>
                  </a:lnTo>
                  <a:lnTo>
                    <a:pt x="546100" y="797560"/>
                  </a:lnTo>
                  <a:lnTo>
                    <a:pt x="537210" y="640080"/>
                  </a:lnTo>
                  <a:lnTo>
                    <a:pt x="669290" y="726440"/>
                  </a:lnTo>
                  <a:lnTo>
                    <a:pt x="608330" y="581660"/>
                  </a:lnTo>
                  <a:lnTo>
                    <a:pt x="760730" y="617220"/>
                  </a:lnTo>
                  <a:lnTo>
                    <a:pt x="654050" y="501650"/>
                  </a:lnTo>
                  <a:lnTo>
                    <a:pt x="810260" y="482600"/>
                  </a:lnTo>
                  <a:lnTo>
                    <a:pt x="669290" y="411480"/>
                  </a:lnTo>
                  <a:lnTo>
                    <a:pt x="810260" y="340360"/>
                  </a:lnTo>
                  <a:lnTo>
                    <a:pt x="654050" y="321310"/>
                  </a:lnTo>
                  <a:lnTo>
                    <a:pt x="760730" y="205740"/>
                  </a:lnTo>
                  <a:lnTo>
                    <a:pt x="608330" y="241300"/>
                  </a:lnTo>
                  <a:lnTo>
                    <a:pt x="669290" y="96520"/>
                  </a:lnTo>
                  <a:lnTo>
                    <a:pt x="537210" y="181610"/>
                  </a:lnTo>
                  <a:lnTo>
                    <a:pt x="546100" y="25400"/>
                  </a:lnTo>
                  <a:lnTo>
                    <a:pt x="450850" y="151130"/>
                  </a:ln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rtl="true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505950" y="1991794"/>
            <a:ext cx="8115300" cy="7266506"/>
          </a:xfrm>
          <a:custGeom>
            <a:avLst/>
            <a:gdLst/>
            <a:ahLst/>
            <a:cxnLst/>
            <a:rect r="r" b="b" t="t" l="l"/>
            <a:pathLst>
              <a:path h="7266506" w="8115300">
                <a:moveTo>
                  <a:pt x="0" y="0"/>
                </a:moveTo>
                <a:lnTo>
                  <a:pt x="8115300" y="0"/>
                </a:lnTo>
                <a:lnTo>
                  <a:pt x="8115300" y="7266506"/>
                </a:lnTo>
                <a:lnTo>
                  <a:pt x="0" y="72665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66750" y="1931974"/>
            <a:ext cx="8477250" cy="6891184"/>
          </a:xfrm>
          <a:custGeom>
            <a:avLst/>
            <a:gdLst/>
            <a:ahLst/>
            <a:cxnLst/>
            <a:rect r="r" b="b" t="t" l="l"/>
            <a:pathLst>
              <a:path h="6891184" w="8477250">
                <a:moveTo>
                  <a:pt x="0" y="0"/>
                </a:moveTo>
                <a:lnTo>
                  <a:pt x="8477250" y="0"/>
                </a:lnTo>
                <a:lnTo>
                  <a:pt x="8477250" y="6891184"/>
                </a:lnTo>
                <a:lnTo>
                  <a:pt x="0" y="68911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615783" y="704850"/>
            <a:ext cx="10005467" cy="921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7086"/>
              </a:lnSpc>
              <a:spcBef>
                <a:spcPct val="0"/>
              </a:spcBef>
            </a:pPr>
            <a:r>
              <a:rPr lang="he-IL" sz="6326">
                <a:solidFill>
                  <a:srgbClr val="00897B"/>
                </a:solidFill>
                <a:latin typeface="Radley"/>
                <a:ea typeface="Radley"/>
                <a:cs typeface="Radley"/>
                <a:sym typeface="Radley"/>
                <a:rtl val="true"/>
              </a:rPr>
              <a:t>דוגמת שיחה עם המטופל א׳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49520" y="9184102"/>
            <a:ext cx="2171730" cy="2205796"/>
            <a:chOff x="0" y="0"/>
            <a:chExt cx="812800" cy="825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" y="0"/>
              <a:ext cx="810260" cy="822960"/>
            </a:xfrm>
            <a:custGeom>
              <a:avLst/>
              <a:gdLst/>
              <a:ahLst/>
              <a:cxnLst/>
              <a:rect r="r" b="b" t="t" l="l"/>
              <a:pathLst>
                <a:path h="822960" w="810260">
                  <a:moveTo>
                    <a:pt x="405130" y="0"/>
                  </a:moveTo>
                  <a:lnTo>
                    <a:pt x="359410" y="151130"/>
                  </a:lnTo>
                  <a:lnTo>
                    <a:pt x="264160" y="25400"/>
                  </a:lnTo>
                  <a:lnTo>
                    <a:pt x="273050" y="181610"/>
                  </a:lnTo>
                  <a:lnTo>
                    <a:pt x="140970" y="96520"/>
                  </a:lnTo>
                  <a:lnTo>
                    <a:pt x="201930" y="241300"/>
                  </a:lnTo>
                  <a:lnTo>
                    <a:pt x="49530" y="205740"/>
                  </a:lnTo>
                  <a:lnTo>
                    <a:pt x="156210" y="321310"/>
                  </a:lnTo>
                  <a:lnTo>
                    <a:pt x="0" y="340360"/>
                  </a:lnTo>
                  <a:lnTo>
                    <a:pt x="140970" y="411480"/>
                  </a:lnTo>
                  <a:lnTo>
                    <a:pt x="0" y="482600"/>
                  </a:lnTo>
                  <a:lnTo>
                    <a:pt x="156210" y="501650"/>
                  </a:lnTo>
                  <a:lnTo>
                    <a:pt x="49530" y="617220"/>
                  </a:lnTo>
                  <a:lnTo>
                    <a:pt x="201930" y="581660"/>
                  </a:lnTo>
                  <a:lnTo>
                    <a:pt x="140970" y="726440"/>
                  </a:lnTo>
                  <a:lnTo>
                    <a:pt x="273050" y="640080"/>
                  </a:lnTo>
                  <a:lnTo>
                    <a:pt x="264160" y="797560"/>
                  </a:lnTo>
                  <a:lnTo>
                    <a:pt x="359410" y="671830"/>
                  </a:lnTo>
                  <a:lnTo>
                    <a:pt x="405130" y="822960"/>
                  </a:lnTo>
                  <a:lnTo>
                    <a:pt x="450850" y="671830"/>
                  </a:lnTo>
                  <a:lnTo>
                    <a:pt x="546100" y="797560"/>
                  </a:lnTo>
                  <a:lnTo>
                    <a:pt x="537210" y="640080"/>
                  </a:lnTo>
                  <a:lnTo>
                    <a:pt x="669290" y="726440"/>
                  </a:lnTo>
                  <a:lnTo>
                    <a:pt x="608330" y="581660"/>
                  </a:lnTo>
                  <a:lnTo>
                    <a:pt x="760730" y="617220"/>
                  </a:lnTo>
                  <a:lnTo>
                    <a:pt x="654050" y="501650"/>
                  </a:lnTo>
                  <a:lnTo>
                    <a:pt x="810260" y="482600"/>
                  </a:lnTo>
                  <a:lnTo>
                    <a:pt x="669290" y="411480"/>
                  </a:lnTo>
                  <a:lnTo>
                    <a:pt x="810260" y="340360"/>
                  </a:lnTo>
                  <a:lnTo>
                    <a:pt x="654050" y="321310"/>
                  </a:lnTo>
                  <a:lnTo>
                    <a:pt x="760730" y="205740"/>
                  </a:lnTo>
                  <a:lnTo>
                    <a:pt x="608330" y="241300"/>
                  </a:lnTo>
                  <a:lnTo>
                    <a:pt x="669290" y="96520"/>
                  </a:lnTo>
                  <a:lnTo>
                    <a:pt x="537210" y="181610"/>
                  </a:lnTo>
                  <a:lnTo>
                    <a:pt x="546100" y="25400"/>
                  </a:lnTo>
                  <a:lnTo>
                    <a:pt x="450850" y="151130"/>
                  </a:ln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rtl="true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321927" y="2700195"/>
            <a:ext cx="5579820" cy="5956458"/>
          </a:xfrm>
          <a:custGeom>
            <a:avLst/>
            <a:gdLst/>
            <a:ahLst/>
            <a:cxnLst/>
            <a:rect r="r" b="b" t="t" l="l"/>
            <a:pathLst>
              <a:path h="5956458" w="5579820">
                <a:moveTo>
                  <a:pt x="0" y="0"/>
                </a:moveTo>
                <a:lnTo>
                  <a:pt x="5579820" y="0"/>
                </a:lnTo>
                <a:lnTo>
                  <a:pt x="5579820" y="5956457"/>
                </a:lnTo>
                <a:lnTo>
                  <a:pt x="0" y="59564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56560" y="2463296"/>
            <a:ext cx="5241625" cy="6193356"/>
          </a:xfrm>
          <a:custGeom>
            <a:avLst/>
            <a:gdLst/>
            <a:ahLst/>
            <a:cxnLst/>
            <a:rect r="r" b="b" t="t" l="l"/>
            <a:pathLst>
              <a:path h="6193356" w="5241625">
                <a:moveTo>
                  <a:pt x="0" y="0"/>
                </a:moveTo>
                <a:lnTo>
                  <a:pt x="5241625" y="0"/>
                </a:lnTo>
                <a:lnTo>
                  <a:pt x="5241625" y="6193356"/>
                </a:lnTo>
                <a:lnTo>
                  <a:pt x="0" y="61933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51989" y="666750"/>
            <a:ext cx="4280828" cy="7989902"/>
          </a:xfrm>
          <a:custGeom>
            <a:avLst/>
            <a:gdLst/>
            <a:ahLst/>
            <a:cxnLst/>
            <a:rect r="r" b="b" t="t" l="l"/>
            <a:pathLst>
              <a:path h="7989902" w="4280828">
                <a:moveTo>
                  <a:pt x="0" y="0"/>
                </a:moveTo>
                <a:lnTo>
                  <a:pt x="4280829" y="0"/>
                </a:lnTo>
                <a:lnTo>
                  <a:pt x="4280829" y="7989902"/>
                </a:lnTo>
                <a:lnTo>
                  <a:pt x="0" y="7989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615783" y="704850"/>
            <a:ext cx="10005467" cy="921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7086"/>
              </a:lnSpc>
              <a:spcBef>
                <a:spcPct val="0"/>
              </a:spcBef>
            </a:pPr>
            <a:r>
              <a:rPr lang="he-IL" sz="6326">
                <a:solidFill>
                  <a:srgbClr val="00897B"/>
                </a:solidFill>
                <a:latin typeface="Radley"/>
                <a:ea typeface="Radley"/>
                <a:cs typeface="Radley"/>
                <a:sym typeface="Radley"/>
                <a:rtl val="true"/>
              </a:rPr>
              <a:t>דוגמת שיחה עם המטופל ב׳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217429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7429" cy="1593725"/>
            </a:xfrm>
            <a:custGeom>
              <a:avLst/>
              <a:gdLst/>
              <a:ahLst/>
              <a:cxnLst/>
              <a:rect r="r" b="b" t="t" l="l"/>
              <a:pathLst>
                <a:path h="1593725" w="1217429">
                  <a:moveTo>
                    <a:pt x="1217429" y="0"/>
                  </a:moveTo>
                  <a:lnTo>
                    <a:pt x="0" y="0"/>
                  </a:lnTo>
                  <a:lnTo>
                    <a:pt x="0" y="1593725"/>
                  </a:lnTo>
                  <a:lnTo>
                    <a:pt x="1217429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55" r="0" b="-25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15746" y="619125"/>
            <a:ext cx="10105504" cy="8610600"/>
            <a:chOff x="0" y="0"/>
            <a:chExt cx="13474005" cy="114808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3832852" y="57150"/>
              <a:ext cx="9614826" cy="13584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rtl="true" marL="0" indent="0" lvl="0">
                <a:lnSpc>
                  <a:spcPts val="7840"/>
                </a:lnSpc>
                <a:spcBef>
                  <a:spcPct val="0"/>
                </a:spcBef>
              </a:pPr>
              <a:r>
                <a:rPr lang="he-IL" sz="7000" i="true">
                  <a:solidFill>
                    <a:srgbClr val="00897B"/>
                  </a:solidFill>
                  <a:latin typeface="Radley Italics"/>
                  <a:ea typeface="Radley Italics"/>
                  <a:cs typeface="Radley Italics"/>
                  <a:sym typeface="Radley Italics"/>
                  <a:rtl val="true"/>
                </a:rPr>
                <a:t>סיכום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3832852" y="2387600"/>
              <a:ext cx="9614826" cy="69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rtl="true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he-IL" sz="3499" u="none">
                  <a:solidFill>
                    <a:srgbClr val="00897B"/>
                  </a:solidFill>
                  <a:latin typeface="Radley"/>
                  <a:ea typeface="Radley"/>
                  <a:cs typeface="Radley"/>
                  <a:sym typeface="Radley"/>
                  <a:rtl val="true"/>
                </a:rPr>
                <a:t>תהליך המחקר והיישומים</a:t>
              </a:r>
            </a:p>
          </p:txBody>
        </p:sp>
        <p:sp>
          <p:nvSpPr>
            <p:cNvPr name="AutoShape 7" id="7"/>
            <p:cNvSpPr/>
            <p:nvPr/>
          </p:nvSpPr>
          <p:spPr>
            <a:xfrm>
              <a:off x="3859178" y="1901614"/>
              <a:ext cx="9614826" cy="0"/>
            </a:xfrm>
            <a:prstGeom prst="line">
              <a:avLst/>
            </a:prstGeom>
            <a:ln cap="flat" w="25400">
              <a:solidFill>
                <a:srgbClr val="00897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3721100"/>
              <a:ext cx="13447678" cy="775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rtl="true" marL="0" indent="0" lvl="0">
                <a:lnSpc>
                  <a:spcPts val="2400"/>
                </a:lnSpc>
              </a:pP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במסגרת פרויקט זה, בחרתי להתמקד במכבי שירותי בריאות - אחת מקופות </a:t>
              </a: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ה</a:t>
              </a: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חול</a:t>
              </a: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י</a:t>
              </a: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ם הגדולות ב</a:t>
              </a: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יש</a:t>
              </a: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ראל עם מילי</a:t>
              </a: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ו</a:t>
              </a: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ני </a:t>
              </a: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מ</a:t>
              </a: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בוטח</a:t>
              </a: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ים</a:t>
              </a:r>
              <a:r>
                <a:rPr lang="ar-EG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.</a:t>
              </a:r>
            </a:p>
            <a:p>
              <a:pPr algn="r" rtl="true" marL="0" indent="0" lvl="0">
                <a:lnSpc>
                  <a:spcPts val="2400"/>
                </a:lnSpc>
              </a:pPr>
            </a:p>
            <a:p>
              <a:pPr algn="r" rtl="true" marL="0" indent="0" lvl="0">
                <a:lnSpc>
                  <a:spcPts val="2400"/>
                </a:lnSpc>
              </a:pP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תהליך</a:t>
              </a: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 ה</a:t>
              </a: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מ</a:t>
              </a: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ח</a:t>
              </a: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קר כלל מספר </a:t>
              </a: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ש</a:t>
              </a: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לבים:</a:t>
              </a:r>
            </a:p>
            <a:p>
              <a:pPr algn="r" rtl="true" marL="0" indent="0" lvl="0">
                <a:lnSpc>
                  <a:spcPts val="2400"/>
                </a:lnSpc>
              </a:pPr>
            </a:p>
            <a:p>
              <a:pPr algn="r" rtl="true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ראשית, זיהיתי את </a:t>
              </a: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נ</a:t>
              </a: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קודות הכאב המרכז</a:t>
              </a: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י</a:t>
              </a: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ות של מבוטחים: זמני המתנה ארוכים, קושי בהבנת תוצאות בדיקות, והצורך לעבור דרך רופא המשפחה לכל הפניה.</a:t>
              </a:r>
            </a:p>
            <a:p>
              <a:pPr algn="r" rtl="true" marL="0" indent="0" lvl="0">
                <a:lnSpc>
                  <a:spcPts val="2400"/>
                </a:lnSpc>
              </a:pPr>
            </a:p>
            <a:p>
              <a:pPr algn="r" rtl="true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שנית, חקרתי פתרונות </a:t>
              </a:r>
              <a:r>
                <a:rPr lang="en-US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</a:rPr>
                <a:t>AI</a:t>
              </a: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 קיימים בתחום הבריאות ובחנתי כיצד ניתן ליישם אותם בהקשר הישראלי.</a:t>
              </a:r>
            </a:p>
            <a:p>
              <a:pPr algn="r" rtl="true" marL="0" indent="0" lvl="0">
                <a:lnSpc>
                  <a:spcPts val="2400"/>
                </a:lnSpc>
              </a:pPr>
            </a:p>
            <a:p>
              <a:pPr algn="r" rtl="true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שלישית, ערכתי השוואה בין מודלי </a:t>
              </a:r>
              <a:r>
                <a:rPr lang="en-US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</a:rPr>
                <a:t>LLM</a:t>
              </a: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 של </a:t>
              </a:r>
              <a:r>
                <a:rPr lang="en-US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</a:rPr>
                <a:t>OpenAI</a:t>
              </a: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 תוך התחשבות בדיוק, מהירות ועלות. הגעתי למסקנה ש-</a:t>
              </a:r>
              <a:r>
                <a:rPr lang="en-US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</a:rPr>
                <a:t>GPT-4o</a:t>
              </a: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 מתאים ביותר ליישומים רפואיים בשל הדיוק הגבוה הנדרש.</a:t>
              </a:r>
            </a:p>
            <a:p>
              <a:pPr algn="r" rtl="true" marL="0" indent="0" lvl="0">
                <a:lnSpc>
                  <a:spcPts val="2400"/>
                </a:lnSpc>
              </a:pPr>
            </a:p>
            <a:p>
              <a:pPr algn="r" rtl="true" marL="0" indent="0" lvl="0">
                <a:lnSpc>
                  <a:spcPts val="2400"/>
                </a:lnSpc>
              </a:pP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לבסוף, פיתחתי פרומפט לבוט מיון חירום ובדקתי אותו ב-</a:t>
              </a:r>
              <a:r>
                <a:rPr lang="en-US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</a:rPr>
                <a:t>Google AI Studio</a:t>
              </a: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. הבוט הדגים יכולת לנהל שיחה אמפתית, לאסוף מידע רלוונטי ולספק הנחיות מותאמות לרמת הדחיפות.</a:t>
              </a:r>
            </a:p>
            <a:p>
              <a:pPr algn="r" rtl="true" marL="0" indent="0" lvl="0">
                <a:lnSpc>
                  <a:spcPts val="2400"/>
                </a:lnSpc>
              </a:pPr>
            </a:p>
            <a:p>
              <a:pPr algn="r" rtl="true" marL="0" indent="0" lvl="0">
                <a:lnSpc>
                  <a:spcPts val="2400"/>
                </a:lnSpc>
              </a:pP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המחקר הראה שיישומי </a:t>
              </a:r>
              <a:r>
                <a:rPr lang="en-US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</a:rPr>
                <a:t>AI</a:t>
              </a:r>
              <a:r>
                <a:rPr lang="he-IL" sz="2000">
                  <a:solidFill>
                    <a:srgbClr val="333333"/>
                  </a:solidFill>
                  <a:latin typeface="Carlito"/>
                  <a:ea typeface="Carlito"/>
                  <a:cs typeface="Carlito"/>
                  <a:sym typeface="Carlito"/>
                  <a:rtl val="true"/>
                </a:rPr>
                <a:t> יכולים לשפר משמעותית את חוויית המטופל, לחסוך זמן ומשאבים, ואף להציל חיים במקרי חירום.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449520" y="9184102"/>
            <a:ext cx="2171730" cy="2205796"/>
            <a:chOff x="0" y="0"/>
            <a:chExt cx="812800" cy="825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" y="0"/>
              <a:ext cx="810260" cy="822960"/>
            </a:xfrm>
            <a:custGeom>
              <a:avLst/>
              <a:gdLst/>
              <a:ahLst/>
              <a:cxnLst/>
              <a:rect r="r" b="b" t="t" l="l"/>
              <a:pathLst>
                <a:path h="822960" w="810260">
                  <a:moveTo>
                    <a:pt x="405130" y="0"/>
                  </a:moveTo>
                  <a:lnTo>
                    <a:pt x="359410" y="151130"/>
                  </a:lnTo>
                  <a:lnTo>
                    <a:pt x="264160" y="25400"/>
                  </a:lnTo>
                  <a:lnTo>
                    <a:pt x="273050" y="181610"/>
                  </a:lnTo>
                  <a:lnTo>
                    <a:pt x="140970" y="96520"/>
                  </a:lnTo>
                  <a:lnTo>
                    <a:pt x="201930" y="241300"/>
                  </a:lnTo>
                  <a:lnTo>
                    <a:pt x="49530" y="205740"/>
                  </a:lnTo>
                  <a:lnTo>
                    <a:pt x="156210" y="321310"/>
                  </a:lnTo>
                  <a:lnTo>
                    <a:pt x="0" y="340360"/>
                  </a:lnTo>
                  <a:lnTo>
                    <a:pt x="140970" y="411480"/>
                  </a:lnTo>
                  <a:lnTo>
                    <a:pt x="0" y="482600"/>
                  </a:lnTo>
                  <a:lnTo>
                    <a:pt x="156210" y="501650"/>
                  </a:lnTo>
                  <a:lnTo>
                    <a:pt x="49530" y="617220"/>
                  </a:lnTo>
                  <a:lnTo>
                    <a:pt x="201930" y="581660"/>
                  </a:lnTo>
                  <a:lnTo>
                    <a:pt x="140970" y="726440"/>
                  </a:lnTo>
                  <a:lnTo>
                    <a:pt x="273050" y="640080"/>
                  </a:lnTo>
                  <a:lnTo>
                    <a:pt x="264160" y="797560"/>
                  </a:lnTo>
                  <a:lnTo>
                    <a:pt x="359410" y="671830"/>
                  </a:lnTo>
                  <a:lnTo>
                    <a:pt x="405130" y="822960"/>
                  </a:lnTo>
                  <a:lnTo>
                    <a:pt x="450850" y="671830"/>
                  </a:lnTo>
                  <a:lnTo>
                    <a:pt x="546100" y="797560"/>
                  </a:lnTo>
                  <a:lnTo>
                    <a:pt x="537210" y="640080"/>
                  </a:lnTo>
                  <a:lnTo>
                    <a:pt x="669290" y="726440"/>
                  </a:lnTo>
                  <a:lnTo>
                    <a:pt x="608330" y="581660"/>
                  </a:lnTo>
                  <a:lnTo>
                    <a:pt x="760730" y="617220"/>
                  </a:lnTo>
                  <a:lnTo>
                    <a:pt x="654050" y="501650"/>
                  </a:lnTo>
                  <a:lnTo>
                    <a:pt x="810260" y="482600"/>
                  </a:lnTo>
                  <a:lnTo>
                    <a:pt x="669290" y="411480"/>
                  </a:lnTo>
                  <a:lnTo>
                    <a:pt x="810260" y="340360"/>
                  </a:lnTo>
                  <a:lnTo>
                    <a:pt x="654050" y="321310"/>
                  </a:lnTo>
                  <a:lnTo>
                    <a:pt x="760730" y="205740"/>
                  </a:lnTo>
                  <a:lnTo>
                    <a:pt x="608330" y="241300"/>
                  </a:lnTo>
                  <a:lnTo>
                    <a:pt x="669290" y="96520"/>
                  </a:lnTo>
                  <a:lnTo>
                    <a:pt x="537210" y="181610"/>
                  </a:lnTo>
                  <a:lnTo>
                    <a:pt x="546100" y="25400"/>
                  </a:lnTo>
                  <a:lnTo>
                    <a:pt x="450850" y="151130"/>
                  </a:ln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rtl="true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יישומי בינה מלאכותית</dc:description>
  <dc:identifier>DAG9Wxh4vkg</dc:identifier>
  <dcterms:modified xsi:type="dcterms:W3CDTF">2011-08-01T06:04:30Z</dcterms:modified>
  <cp:revision>1</cp:revision>
  <dc:title>Presentation - יישומי בינה מלאכותית</dc:title>
</cp:coreProperties>
</file>